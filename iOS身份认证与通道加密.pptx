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E21F6C7F-39FB-44E0-875D-90E94F3CC83A}"/>
              </a:ext>
            </a:extLst>
          </p:cNvPr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B3A5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4744577-D1E1-4A52-AF07-A6CA455D0672}"/>
              </a:ext>
            </a:extLst>
          </p:cNvPr>
          <p:cNvSpPr/>
          <p:nvPr/>
        </p:nvSpPr>
        <p:spPr>
          <a:xfrm>
            <a:off x="1333500" y="762000"/>
            <a:ext cx="1905000" cy="1905000"/>
          </a:xfrm>
          <a:prstGeom prst="hexagon">
            <a:avLst/>
          </a:prstGeom>
          <a:solidFill>
            <a:srgbClr val="4A90D9">
              <a:alpha val="12549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B0195DC-A7E6-48FE-A14C-31F3F0D5B8CE}"/>
              </a:ext>
            </a:extLst>
          </p:cNvPr>
          <p:cNvSpPr/>
          <p:nvPr/>
        </p:nvSpPr>
        <p:spPr>
          <a:xfrm>
            <a:off x="476250" y="3333750"/>
            <a:ext cx="1333500" cy="1333500"/>
          </a:xfrm>
          <a:prstGeom prst="hexagon">
            <a:avLst/>
          </a:prstGeom>
          <a:solidFill>
            <a:srgbClr val="4A90D9">
              <a:alpha val="823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7ECD355-442C-445E-A59D-C4C6612FBB63}"/>
              </a:ext>
            </a:extLst>
          </p:cNvPr>
          <p:cNvSpPr/>
          <p:nvPr/>
        </p:nvSpPr>
        <p:spPr>
          <a:xfrm>
            <a:off x="3048000" y="4953000"/>
            <a:ext cx="952500" cy="952500"/>
          </a:xfrm>
          <a:prstGeom prst="donut">
            <a:avLst/>
          </a:prstGeom>
          <a:solidFill>
            <a:srgbClr val="E8A838">
              <a:alpha val="12549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BAD61F5-7A3B-4DD4-8F6E-0C2677E8C190}"/>
              </a:ext>
            </a:extLst>
          </p:cNvPr>
          <p:cNvSpPr/>
          <p:nvPr/>
        </p:nvSpPr>
        <p:spPr>
          <a:xfrm>
            <a:off x="8572500" y="476250"/>
            <a:ext cx="2857500" cy="2857500"/>
          </a:xfrm>
          <a:prstGeom prst="hexagon">
            <a:avLst/>
          </a:prstGeom>
          <a:solidFill>
            <a:srgbClr val="4A90D9">
              <a:alpha val="627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641F900-5BC1-4E1F-8676-53C4F45AE1BB}"/>
              </a:ext>
            </a:extLst>
          </p:cNvPr>
          <p:cNvSpPr/>
          <p:nvPr/>
        </p:nvSpPr>
        <p:spPr>
          <a:xfrm>
            <a:off x="10001250" y="4286250"/>
            <a:ext cx="1524000" cy="1524000"/>
          </a:xfrm>
          <a:prstGeom prst="hexagon">
            <a:avLst/>
          </a:prstGeom>
          <a:solidFill>
            <a:srgbClr val="E8A838">
              <a:alpha val="8235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A158EEC-A5CC-47E8-9900-72C40A9C8966}"/>
              </a:ext>
            </a:extLst>
          </p:cNvPr>
          <p:cNvSpPr txBox="1"/>
          <p:nvPr/>
        </p:nvSpPr>
        <p:spPr>
          <a:xfrm>
            <a:off x="5143500" y="1576578"/>
            <a:ext cx="6477000" cy="804672"/>
          </a:xfrm>
        </p:spPr>
        <p:txBody>
          <a:bodyPr wrap="square" rtlCol="0" lIns="0" tIns="0" rIns="0" bIns="0" anchor="b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E0E6ED"/>
                </a:solidFill>
                <a:latin typeface="PingFang SC"/>
                <a:ea typeface="PingFang SC"/>
              </a:rPr>
              <a:t>iOS身份认证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51C5B94-942C-4966-962C-6C820D3E8828}"/>
              </a:ext>
            </a:extLst>
          </p:cNvPr>
          <p:cNvSpPr txBox="1"/>
          <p:nvPr/>
        </p:nvSpPr>
        <p:spPr>
          <a:xfrm>
            <a:off x="5143500" y="2476500"/>
            <a:ext cx="6477000" cy="80467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E0E6ED"/>
                </a:solidFill>
                <a:latin typeface="PingFang SC"/>
                <a:ea typeface="PingFang SC"/>
              </a:rPr>
              <a:t>与通道加密全景分析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2D331B0-8D17-4897-BD08-A65139E14F7A}"/>
              </a:ext>
            </a:extLst>
          </p:cNvPr>
          <p:cNvSpPr txBox="1"/>
          <p:nvPr/>
        </p:nvSpPr>
        <p:spPr>
          <a:xfrm>
            <a:off x="5143500" y="3429000"/>
            <a:ext cx="6477000" cy="35661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4A90D9"/>
                </a:solidFill>
                <a:latin typeface="PingFang SC"/>
                <a:ea typeface="PingFang SC"/>
              </a:rPr>
              <a:t>Face ID · Touch ID · Secure Enclave · Keychain · TLS/SSL · OAuth 2.0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E9D58E5-2DDD-4B38-8695-682A1575A16C}"/>
              </a:ext>
            </a:extLst>
          </p:cNvPr>
          <p:cNvSpPr txBox="1"/>
          <p:nvPr/>
        </p:nvSpPr>
        <p:spPr>
          <a:xfrm>
            <a:off x="5143500" y="3905250"/>
            <a:ext cx="6477000" cy="27736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8899AA"/>
                </a:solidFill>
                <a:latin typeface="PingFang SC"/>
                <a:ea typeface="PingFang SC"/>
              </a:rPr>
              <a:t>iOS Authentication &amp; Channel Encryption Security Analysis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182C8DC-3BA6-45C9-8A83-2F723A984F12}"/>
              </a:ext>
            </a:extLst>
          </p:cNvPr>
          <p:cNvSpPr/>
          <p:nvPr/>
        </p:nvSpPr>
        <p:spPr>
          <a:xfrm>
            <a:off x="5143500" y="4381500"/>
            <a:ext cx="1143000" cy="28575"/>
          </a:xfrm>
          <a:prstGeom prst="rect">
            <a:avLst/>
          </a:prstGeom>
          <a:solidFill>
            <a:srgbClr val="4A90D9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B8BED84-B312-4C12-B759-1DE079A56862}"/>
              </a:ext>
            </a:extLst>
          </p:cNvPr>
          <p:cNvSpPr txBox="1"/>
          <p:nvPr/>
        </p:nvSpPr>
        <p:spPr>
          <a:xfrm>
            <a:off x="5143500" y="6096000"/>
            <a:ext cx="3810000" cy="237744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8899AA"/>
                </a:solidFill>
                <a:latin typeface="PingFang SC"/>
                <a:ea typeface="PingFang SC"/>
              </a:rPr>
              <a:t>咨询iOS系统请联系 Telegram: @pengqing666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