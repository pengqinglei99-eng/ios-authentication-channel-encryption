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D535D8A-F093-4D0A-8526-B1803BAB4F7E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1E3A5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74F3EA2-DF6A-41AF-BAEB-EBBF2F573E79}"/>
              </a:ext>
            </a:extLst>
          </p:cNvPr>
          <p:cNvSpPr/>
          <p:nvPr/>
        </p:nvSpPr>
        <p:spPr>
          <a:xfrm>
            <a:off x="952500" y="952500"/>
            <a:ext cx="1714500" cy="1714500"/>
          </a:xfrm>
          <a:prstGeom prst="hexagon">
            <a:avLst/>
          </a:prstGeom>
          <a:solidFill>
            <a:srgbClr val="4A90D9">
              <a:alpha val="12549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B792129-FC06-4CF7-A993-E62F2DB3E522}"/>
              </a:ext>
            </a:extLst>
          </p:cNvPr>
          <p:cNvSpPr/>
          <p:nvPr/>
        </p:nvSpPr>
        <p:spPr>
          <a:xfrm>
            <a:off x="476250" y="3810000"/>
            <a:ext cx="1143000" cy="1143000"/>
          </a:xfrm>
          <a:prstGeom prst="hexagon">
            <a:avLst/>
          </a:prstGeom>
          <a:solidFill>
            <a:srgbClr val="4A90D9">
              <a:alpha val="823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3710FCA-439C-4271-A66D-A5357AD90428}"/>
              </a:ext>
            </a:extLst>
          </p:cNvPr>
          <p:cNvSpPr/>
          <p:nvPr/>
        </p:nvSpPr>
        <p:spPr>
          <a:xfrm>
            <a:off x="2381250" y="5238750"/>
            <a:ext cx="1333500" cy="1333500"/>
          </a:xfrm>
          <a:prstGeom prst="donut">
            <a:avLst/>
          </a:prstGeom>
          <a:solidFill>
            <a:srgbClr val="00D9A3">
              <a:alpha val="12549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4F4C755-E0B7-47F4-9849-059FFB072C70}"/>
              </a:ext>
            </a:extLst>
          </p:cNvPr>
          <p:cNvSpPr/>
          <p:nvPr/>
        </p:nvSpPr>
        <p:spPr>
          <a:xfrm>
            <a:off x="9048750" y="762000"/>
            <a:ext cx="2381250" cy="2381250"/>
          </a:xfrm>
          <a:prstGeom prst="hexagon">
            <a:avLst/>
          </a:prstGeom>
          <a:solidFill>
            <a:srgbClr val="4A90D9">
              <a:alpha val="627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C2CB688-26C2-461E-82C6-5C786112576B}"/>
              </a:ext>
            </a:extLst>
          </p:cNvPr>
          <p:cNvSpPr/>
          <p:nvPr/>
        </p:nvSpPr>
        <p:spPr>
          <a:xfrm>
            <a:off x="10287000" y="4572000"/>
            <a:ext cx="1238250" cy="1238250"/>
          </a:xfrm>
          <a:prstGeom prst="hexagon">
            <a:avLst/>
          </a:prstGeom>
          <a:solidFill>
            <a:srgbClr val="00D9A3">
              <a:alpha val="823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3ABCE4-38DF-45D5-A5DA-8FE8573C4848}"/>
              </a:ext>
            </a:extLst>
          </p:cNvPr>
          <p:cNvSpPr txBox="1"/>
          <p:nvPr/>
        </p:nvSpPr>
        <p:spPr>
          <a:xfrm>
            <a:off x="4572000" y="1730502"/>
            <a:ext cx="6667500" cy="841248"/>
          </a:xfrm>
        </p:spPr>
        <p:txBody>
          <a:bodyPr wrap="square" rtlCol="0" lIns="0" tIns="0" rIns="0" bIns="0" anchor="b"/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E8F1F9"/>
                </a:solidFill>
                <a:latin typeface="PingFang SC"/>
                <a:ea typeface="PingFang SC"/>
              </a:rPr>
              <a:t>iOS Wi-Fi与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05F251A-5426-460F-BE9A-0CC16B1DEBDA}"/>
              </a:ext>
            </a:extLst>
          </p:cNvPr>
          <p:cNvSpPr txBox="1"/>
          <p:nvPr/>
        </p:nvSpPr>
        <p:spPr>
          <a:xfrm>
            <a:off x="4572000" y="2667000"/>
            <a:ext cx="6667500" cy="8412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E8F1F9"/>
                </a:solidFill>
                <a:latin typeface="PingFang SC"/>
                <a:ea typeface="PingFang SC"/>
              </a:rPr>
              <a:t>无线通信安全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DCAFBA1-7FCB-4654-A59F-971756AC290C}"/>
              </a:ext>
            </a:extLst>
          </p:cNvPr>
          <p:cNvSpPr txBox="1"/>
          <p:nvPr/>
        </p:nvSpPr>
        <p:spPr>
          <a:xfrm>
            <a:off x="4572000" y="3619500"/>
            <a:ext cx="6667500" cy="35661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4A90D9"/>
                </a:solidFill>
                <a:latin typeface="PingFang SC"/>
                <a:ea typeface="PingFang SC"/>
              </a:rPr>
              <a:t>Wi-Fi · Bluetooth · AirDrop · Cellular · NFC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3B53388-0969-4679-8716-1D42487C1664}"/>
              </a:ext>
            </a:extLst>
          </p:cNvPr>
          <p:cNvSpPr txBox="1"/>
          <p:nvPr/>
        </p:nvSpPr>
        <p:spPr>
          <a:xfrm>
            <a:off x="4572000" y="4095750"/>
            <a:ext cx="6667500" cy="2773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8BA4B8"/>
                </a:solidFill>
                <a:latin typeface="PingFang SC"/>
                <a:ea typeface="PingFang SC"/>
              </a:rPr>
              <a:t>iOS Wireless Communication Security Analysis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CB1C619-87CD-4EDE-9C85-99A321D3E008}"/>
              </a:ext>
            </a:extLst>
          </p:cNvPr>
          <p:cNvSpPr/>
          <p:nvPr/>
        </p:nvSpPr>
        <p:spPr>
          <a:xfrm>
            <a:off x="4572000" y="4572000"/>
            <a:ext cx="952500" cy="28575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F13E097-21C8-4A8C-8703-D0F28539F7F1}"/>
              </a:ext>
            </a:extLst>
          </p:cNvPr>
          <p:cNvSpPr txBox="1"/>
          <p:nvPr/>
        </p:nvSpPr>
        <p:spPr>
          <a:xfrm>
            <a:off x="4572000" y="6096000"/>
            <a:ext cx="3810000" cy="23774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A4B8"/>
                </a:solidFill>
                <a:latin typeface="PingFang SC"/>
                <a:ea typeface="PingFang SC"/>
              </a:rPr>
              <a:t>咨询iOS系统请联系 Telegram: @pengqing666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1689624B-2CA9-44A1-9F3D-B2DC78190618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5A88A01-987F-4A37-9B09-EC997E616416}"/>
              </a:ext>
            </a:extLst>
          </p:cNvPr>
          <p:cNvSpPr/>
          <p:nvPr/>
        </p:nvSpPr>
        <p:spPr>
          <a:xfrm>
            <a:off x="10477500" y="5143500"/>
            <a:ext cx="1714500" cy="1714500"/>
          </a:xfrm>
          <a:prstGeom prst="hexagon">
            <a:avLst/>
          </a:prstGeom>
          <a:solidFill>
            <a:srgbClr val="4A90D9">
              <a:alpha val="823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AF6EDAA-1FD5-4A63-8263-75F946FE9C2D}"/>
              </a:ext>
            </a:extLst>
          </p:cNvPr>
          <p:cNvSpPr/>
          <p:nvPr/>
        </p:nvSpPr>
        <p:spPr>
          <a:xfrm>
            <a:off x="476250" y="5715000"/>
            <a:ext cx="1143000" cy="1143000"/>
          </a:xfrm>
          <a:prstGeom prst="hexagon">
            <a:avLst/>
          </a:prstGeom>
          <a:solidFill>
            <a:srgbClr val="00D9A3">
              <a:alpha val="627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174F93-4130-4598-A6EE-A2A6B6323A1E}"/>
              </a:ext>
            </a:extLst>
          </p:cNvPr>
          <p:cNvSpPr txBox="1"/>
          <p:nvPr/>
        </p:nvSpPr>
        <p:spPr>
          <a:xfrm>
            <a:off x="762000" y="476250"/>
            <a:ext cx="3810000" cy="571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90D9"/>
                </a:solidFill>
                <a:latin typeface="PingFang SC"/>
                <a:ea typeface="PingFang SC"/>
              </a:rPr>
              <a:t>02 / WI-FI SECURITY ARCHITECTURE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15515E-C1EA-4532-94E9-A9FA5099E1BC}"/>
              </a:ext>
            </a:extLst>
          </p:cNvPr>
          <p:cNvSpPr txBox="1"/>
          <p:nvPr/>
        </p:nvSpPr>
        <p:spPr>
          <a:xfrm>
            <a:off x="762000" y="952500"/>
            <a:ext cx="6667500" cy="48768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Wi-Fi 安全协议演进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FBB2B31-4E7F-42FE-98EC-20694474D213}"/>
              </a:ext>
            </a:extLst>
          </p:cNvPr>
          <p:cNvSpPr/>
          <p:nvPr/>
        </p:nvSpPr>
        <p:spPr>
          <a:xfrm>
            <a:off x="762000" y="1809750"/>
            <a:ext cx="32385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0F510F8-D07A-42E1-AA77-4D69808279B4}"/>
              </a:ext>
            </a:extLst>
          </p:cNvPr>
          <p:cNvSpPr txBox="1"/>
          <p:nvPr/>
        </p:nvSpPr>
        <p:spPr>
          <a:xfrm>
            <a:off x="952500" y="2000250"/>
            <a:ext cx="28575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WPA2 (2004)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AES-CCMP 加密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PSK 预共享密钥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F6B6B"/>
                </a:solidFill>
                <a:latin typeface="PingFang SC"/>
                <a:ea typeface="PingFang SC"/>
              </a:rPr>
              <a:t>KRACK 漏洞 (2017)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7D7A2AE-FA2D-4476-AF7E-4F90D6FF8253}"/>
              </a:ext>
            </a:extLst>
          </p:cNvPr>
          <p:cNvSpPr/>
          <p:nvPr/>
        </p:nvSpPr>
        <p:spPr>
          <a:xfrm>
            <a:off x="4476750" y="1809750"/>
            <a:ext cx="32385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E28A25F-B152-4BCA-9087-6814E55ABAB3}"/>
              </a:ext>
            </a:extLst>
          </p:cNvPr>
          <p:cNvSpPr txBox="1"/>
          <p:nvPr/>
        </p:nvSpPr>
        <p:spPr>
          <a:xfrm>
            <a:off x="4667250" y="2000250"/>
            <a:ext cx="28575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WPA3 (2018)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SAE 密钥协商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前向保密保护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抗离线字典攻击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8AA5270-FB4B-458D-BF83-DA0448BEDD0D}"/>
              </a:ext>
            </a:extLst>
          </p:cNvPr>
          <p:cNvSpPr/>
          <p:nvPr/>
        </p:nvSpPr>
        <p:spPr>
          <a:xfrm>
            <a:off x="8191500" y="1809750"/>
            <a:ext cx="32385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BEF0439-BED2-459D-9081-563D9AE3AAAF}"/>
              </a:ext>
            </a:extLst>
          </p:cNvPr>
          <p:cNvSpPr txBox="1"/>
          <p:nvPr/>
        </p:nvSpPr>
        <p:spPr>
          <a:xfrm>
            <a:off x="8382000" y="2000250"/>
            <a:ext cx="28575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802.1X/EAP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企业级认证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RADIUS 服务器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EAP-TLS 证书认证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902E14D-94AD-40CA-8F10-4AF510DEEEF7}"/>
              </a:ext>
            </a:extLst>
          </p:cNvPr>
          <p:cNvSpPr/>
          <p:nvPr/>
        </p:nvSpPr>
        <p:spPr>
          <a:xfrm>
            <a:off x="762000" y="4476750"/>
            <a:ext cx="10668000" cy="17145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A03D653-BFF3-40AB-AE8A-A011CC7C1FAE}"/>
              </a:ext>
            </a:extLst>
          </p:cNvPr>
          <p:cNvSpPr txBox="1"/>
          <p:nvPr/>
        </p:nvSpPr>
        <p:spPr>
          <a:xfrm>
            <a:off x="952500" y="4619625"/>
            <a:ext cx="10287000" cy="1524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iOS Wi-Fi 安全特性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自动加入已知网络 (Private Wi-Fi Address 随机 MAC)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限制 IP 地址追踪 (每网络独立随机 IP)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Wi-Fi 隐私报告 (检测弱加密/无认证网络)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Hotspot 2.0 / Passpoint 自动认证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0077930F-3802-4333-B4C1-B7B24B3397E9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13AA2EF-7C33-4CA2-867B-D94A200F2B35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9A3"/>
                </a:solidFill>
                <a:latin typeface="PingFang SC"/>
                <a:ea typeface="PingFang SC"/>
              </a:rPr>
              <a:t>03 / BLUETOOTH SECURITY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1871D08-77FA-4199-98ED-A889AE935560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蓝牙安全机制与攻击向量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A382865-6F4E-4407-AD63-0E7F874048C3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635C39-857D-4E1C-8509-0A2B1AEF0F8B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BLE 配对攻击向量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Just Works 无MITM保护 | Numeric Comparison 6位比对 | Passkey静态PIN | OOB NFC辅助配对 | BLESA旧版重连攻击(2020)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991B48F-960C-4DC8-B9F5-D5C0B63FE550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6960D57-928D-4145-A9BF-CCC41952524F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隐私追踪与iOS防护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MAC随机化(iOS13+) | 设备发现协议泄露 | AirDrop定位滥用 | Beacon室内定位 | Continuity指纹识别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防护: 唯一链路密钥 | AES-CCM加密 | 用户授权 | Info.plist限制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80706BAE-5897-455F-B2A7-2C245B8CB593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937D34-0241-4144-97BE-7A781DA98C5A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90D9"/>
                </a:solidFill>
                <a:latin typeface="PingFang SC"/>
                <a:ea typeface="PingFang SC"/>
              </a:rPr>
              <a:t>04 / AIRDROP &amp; AIRPLAY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85A1C9-1A12-4680-9101-62A0A831470F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AirDrop 与 AirPlay 安全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DDF3B45-1D2A-4CC3-9052-CE92E2304985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1488B95-26EA-4C0F-A8A7-7A4F2FEFEF5F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AirDrop 攻击向量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未接来电泄露: 通话请求暴露电话号码 (2024)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哈希碰撞: 电话号码哈希可被破解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近距离追踪: BLE 广播识别设备位置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F6B6B"/>
                </a:solidFill>
                <a:latin typeface="PingFang SC"/>
                <a:ea typeface="PingFang SC"/>
              </a:rPr>
              <a:t>• 钓鱼攻击: 伪造 AirDrop 弹窗诱导点击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256AE1D-804D-4BF9-806B-435651CB8DEE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1E42524-D711-4D1C-8411-7E83AFC8ADB4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AirPlay 安全与防护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AirPlay 镜像: 需同一 Wi-Fi 或密码验证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设备验证: 使用 SRP 协议安全配对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加密传输: 内容使用 AES 加密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iOS 17+: 联系人验证默认开启 | 仅限联系人接收文件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6DC3FB27-18FD-422D-858D-D759244EBDF7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812CD98-316C-471A-A842-A93D7C4675FC}"/>
              </a:ext>
            </a:extLst>
          </p:cNvPr>
          <p:cNvSpPr txBox="1"/>
          <p:nvPr/>
        </p:nvSpPr>
        <p:spPr>
          <a:xfrm>
            <a:off x="762000" y="381000"/>
            <a:ext cx="47625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9A3"/>
                </a:solidFill>
                <a:latin typeface="PingFang SC"/>
                <a:ea typeface="PingFang SC"/>
              </a:rPr>
              <a:t>05 / CELLULAR NETWORK SECURITY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9FEB1C7-E139-4175-93D4-674D5E4E42C9}"/>
              </a:ext>
            </a:extLst>
          </p:cNvPr>
          <p:cNvSpPr txBox="1"/>
          <p:nvPr/>
        </p:nvSpPr>
        <p:spPr>
          <a:xfrm>
            <a:off x="762000" y="742950"/>
            <a:ext cx="76200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蜂窝网络安全与 IMSI 捕获器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38EF017-0A5E-48CA-BFD9-CA28E87A2586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D222163-C72D-4399-BB32-44ED4518D8C5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4G/5G 协议安全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4G LTE: EPS-AKA 认证 | AES 加密 | 完整性保护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5G SA: 5G-AKA / EAP-AKA' | SUPI 加密 | 网络切片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6B6B"/>
                </a:solidFill>
                <a:latin typeface="PingFang SC"/>
                <a:ea typeface="PingFang SC"/>
              </a:rPr>
              <a:t>• IMSI 捕获器: 伪基站强制降级 2G 截获身份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F6B6B"/>
                </a:solidFill>
                <a:latin typeface="PingFang SC"/>
                <a:ea typeface="PingFang SC"/>
              </a:rPr>
              <a:t>• STP 漏洞: 信令转接点拦截短信/通话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FC7B37F-50AB-43DD-B6F2-BC88C4A89D5D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56A7E42-A20F-45C3-860D-F155D4C284B3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iOS 蜂窝防护机制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5G 独立组网支持: 端到端加密与完整性保护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SIM 应用沙箱: 基带处理器与主 CPU 隔离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运营商设置更新: 签名验证防止恶意配置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建议: 启用 5G SA 模式 | 禁用 2G 回落 | 监控异常基站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FAC28836-EA3C-4626-8215-FC1680EB7D93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20C871-D835-4386-9C8E-1147881FC3AD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90D9"/>
                </a:solidFill>
                <a:latin typeface="PingFang SC"/>
                <a:ea typeface="PingFang SC"/>
              </a:rPr>
              <a:t>06 / NFC &amp; APPLE PAY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5219AFE-11C6-45BE-8E6F-87899D1427B8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NFC 与 Apple Pay 安全架构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95A121E-FEE0-48F8-821C-AC3D7528F815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1D16920-131C-4392-AF90-D3512D3D96E2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Apple Pay 令牌化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DPAN 设备账号数: 替代真实卡号存储于 Secure Element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动态安全码: 每笔交易生成唯一 CVV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Face ID/Touch ID 授权: 生物识别确认支付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商户不可见卡号: 商家只收到令牌非真实卡号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51C3E67-5792-41FC-A5D2-770F508BB8BC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C3F5B9D-780D-4A18-A764-7DF7B43B6C75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NFC 标签与攻击面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后台标签读取: 自动触发 URL/操作无需应用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快捷指令自动化: NFC 标签触发工作流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6B6B"/>
                </a:solidFill>
                <a:latin typeface="PingFang SC"/>
                <a:ea typeface="PingFang SC"/>
              </a:rPr>
              <a:t>• 恶意标签: 诱导访问钓鱼网站或触发操作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防护: 读取前确认 URL | 禁用自动触发 | Secure Element 硬件隔离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BE7BDED9-EF36-46A5-BB15-11D75A1CE8BE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045FB63-A10A-4F9F-876D-25540CDAD6C8}"/>
              </a:ext>
            </a:extLst>
          </p:cNvPr>
          <p:cNvSpPr txBox="1"/>
          <p:nvPr/>
        </p:nvSpPr>
        <p:spPr>
          <a:xfrm>
            <a:off x="762000" y="381000"/>
            <a:ext cx="47625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9A3"/>
                </a:solidFill>
                <a:latin typeface="PingFang SC"/>
                <a:ea typeface="PingFang SC"/>
              </a:rPr>
              <a:t>07 / WIRELESS MITM ATTACKS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B3ABD5-0F34-4509-8AE2-18184F8AD8B0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无线中间人攻击技术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BE53F24-5BC5-4319-8F8A-6A8040868A03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1C0818-7613-46C5-8E4A-A4CE9C2D7966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6B6B"/>
                </a:solidFill>
                <a:latin typeface="PingFang SC"/>
                <a:ea typeface="PingFang SC"/>
              </a:rPr>
              <a:t>常见攻击手法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Evil Twin: 伪造同名 AP 诱导连接截获流量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Karma 攻击: 响应设备探测自动伪装已知 SSID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SSL 剥离: 降级 HTTPS 到 HTTP 截获明文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DNS 劫持: 篡改 DNS 响应重定向到恶意站点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10F41BF-AE75-40D0-98D2-30A64F7DAC5D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9D1B05C-5B4A-4DF4-9DD9-88DE52D264F1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iOS 防御机制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ATS 强制: 所有连接必须 HTTPS + TLS 1.2+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证书固定: 应用硬编码证书防止伪造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私有 Wi-Fi 地址: 每网络随机 MAC 防止追踪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建议: 避免开放 Wi-Fi | 启用证书固定 | 监控网络异常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D15FA890-0946-454C-A156-C880EA8D8C05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9C080C-05D3-4484-A2B1-5646485003A2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90D9"/>
                </a:solidFill>
                <a:latin typeface="PingFang SC"/>
                <a:ea typeface="PingFang SC"/>
              </a:rPr>
              <a:t>08 / TRAFFIC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49B75B-60B2-4BF5-B430-EE6CDD060EEA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无线流量分析与监控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42EB3F9-A5A4-4E84-BEE8-2781F58C2CE1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78BB986-B06A-498C-ACD9-714AA1A4F3F0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流量分析工具与技术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Wireshark/tcpdump: 捕获并分析网络数据包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mitmproxy: 交互式 HTTPS 代理截获请求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Charles Proxy: 应用层 HTTP/S 调试与修改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侧信道分析: 流量模式/时序泄露用户行为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4D902D4-0CBB-4434-AD7F-2FA92558D8BF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D97930F-E166-4066-9399-C2FFD63EF6C9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iOS 流量保护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Network Extension: 应用级 VPN 加密所有流量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DNS over HTTPS: 加密 DNS 查询防止劫持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应用传输安全: 强制 HTTPS + 证书验证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越狱风险: 安装根证书可截获所有 HTTPS 流量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479D5418-35F6-44CC-89CA-FF6C8AA54C5D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008638-0C9C-48BD-BD4A-F904B0CAC1A2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9A3"/>
                </a:solidFill>
                <a:latin typeface="PingFang SC"/>
                <a:ea typeface="PingFang SC"/>
              </a:rPr>
              <a:t>09 / LOCATION TRACKING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FD40FD5-52F2-45C7-852F-2CED59A1121C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位置追踪与隐私风险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702EA72-A579-495C-94B9-B1ED3DBF1131}"/>
              </a:ext>
            </a:extLst>
          </p:cNvPr>
          <p:cNvSpPr/>
          <p:nvPr/>
        </p:nvSpPr>
        <p:spPr>
          <a:xfrm>
            <a:off x="762000" y="142875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8C25964-B40C-451E-90B5-DF13285BB6CD}"/>
              </a:ext>
            </a:extLst>
          </p:cNvPr>
          <p:cNvSpPr txBox="1"/>
          <p:nvPr/>
        </p:nvSpPr>
        <p:spPr>
          <a:xfrm>
            <a:off x="952500" y="161925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6B6B"/>
                </a:solidFill>
                <a:latin typeface="PingFang SC"/>
                <a:ea typeface="PingFang SC"/>
              </a:rPr>
              <a:t>无线定位技术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Wi-Fi 指纹: 扫描周围 AP 的 MAC 与信号强度定位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BLE 信标: iBeacon/Eddystone 室内精确定位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基站三角测量: 多基站信号强度估算位置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GPS 辅助: Wi-Fi/基站数据加速首次定位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29D5BED-C4E9-4754-BB3E-09A56252CA57}"/>
              </a:ext>
            </a:extLst>
          </p:cNvPr>
          <p:cNvSpPr/>
          <p:nvPr/>
        </p:nvSpPr>
        <p:spPr>
          <a:xfrm>
            <a:off x="762000" y="4000500"/>
            <a:ext cx="10668000" cy="22860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457186F-A0F6-42AF-865B-B626137CDA14}"/>
              </a:ext>
            </a:extLst>
          </p:cNvPr>
          <p:cNvSpPr txBox="1"/>
          <p:nvPr/>
        </p:nvSpPr>
        <p:spPr>
          <a:xfrm>
            <a:off x="952500" y="4191000"/>
            <a:ext cx="10287000" cy="2095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iOS 隐私保护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精确位置开关: 应用仅获取大致位置 (4.5km范围)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私有 Wi-Fi 地址: 每网络独立随机 MAC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限制 IP 地址追踪: 跨站随机 IP 防止关联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建议: 关闭不必要的位置权限 | 使用精确位置开关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A09254EB-7959-4B69-9CA8-E522EF8FB44D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2E133C7-1BEF-463A-B4B4-5BD13EEEA48C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A90D9"/>
                </a:solidFill>
                <a:latin typeface="PingFang SC"/>
                <a:ea typeface="PingFang SC"/>
              </a:rPr>
              <a:t>10 / BEST PRACTICES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545A685-35C9-4571-8093-5F43775F4A1D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无线安全最佳实践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162CAB0-D6BF-4F62-9A1C-8AAC0C08D1F7}"/>
              </a:ext>
            </a:extLst>
          </p:cNvPr>
          <p:cNvSpPr/>
          <p:nvPr/>
        </p:nvSpPr>
        <p:spPr>
          <a:xfrm>
            <a:off x="762000" y="1333500"/>
            <a:ext cx="10668000" cy="504825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3D55102-1EC9-43AB-B6F1-4CCCDAA35940}"/>
              </a:ext>
            </a:extLst>
          </p:cNvPr>
          <p:cNvSpPr txBox="1"/>
          <p:nvPr/>
        </p:nvSpPr>
        <p:spPr>
          <a:xfrm>
            <a:off x="952500" y="1524000"/>
            <a:ext cx="10287000" cy="485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Wi-Fi 安全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仅连接 WPA2/WPA3 加密网络 • 避免开放公共 Wi-Fi 进行敏感操作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启用私有 Wi-Fi 地址 • 定期忘记不再使用的网络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蓝牙与近场通信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不需要时关闭蓝牙 • AirDrop 设置为“仅限联系人”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谨慎接受 AirDrop 文件 • NFC 标签读取前确认 URL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4A90D9"/>
                </a:solidFill>
                <a:latin typeface="PingFang SC"/>
                <a:ea typeface="PingFang SC"/>
              </a:rPr>
              <a:t>网络监控与防护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使用 VPN 加密公共网络流量 • 启用 DNS over HTTPS</a:t>
            </a:r>
          </a:p>
          <a:p>
            <a:pPr algn="l">
              <a:spcAft>
                <a:spcPts val="12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检查 Wi-Fi 隐私报告 • 及时更新 iOS 修复漏洞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D9A3"/>
                </a:solidFill>
                <a:latin typeface="PingFang SC"/>
                <a:ea typeface="PingFang SC"/>
              </a:rPr>
              <a:t>隐私保护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应用仅授予“大致位置”权限 • 定期审查位置权限列表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B0BEC5"/>
                </a:solidFill>
                <a:latin typeface="PingFang SC"/>
                <a:ea typeface="PingFang SC"/>
              </a:rPr>
              <a:t>• 限制 IP 地址追踪 • 禁用不必要的位置服务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6188DAC2-CC98-4823-8E72-444FFAB60DBF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086DA83-F44F-48E9-9849-8F43D04BB8E8}"/>
              </a:ext>
            </a:extLst>
          </p:cNvPr>
          <p:cNvSpPr txBox="1"/>
          <p:nvPr/>
        </p:nvSpPr>
        <p:spPr>
          <a:xfrm>
            <a:off x="762000" y="381000"/>
            <a:ext cx="3810000" cy="333375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D9A3"/>
                </a:solidFill>
                <a:latin typeface="PingFang SC"/>
                <a:ea typeface="PingFang SC"/>
              </a:rPr>
              <a:t>11 / CVE INDEX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8884DC-1216-4285-88A9-46256EF239D1}"/>
              </a:ext>
            </a:extLst>
          </p:cNvPr>
          <p:cNvSpPr txBox="1"/>
          <p:nvPr/>
        </p:nvSpPr>
        <p:spPr>
          <a:xfrm>
            <a:off x="762000" y="742950"/>
            <a:ext cx="6667500" cy="457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无线通信漏洞 CVE 索引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47A270A-A4C9-4D53-B377-7830FC989A14}"/>
              </a:ext>
            </a:extLst>
          </p:cNvPr>
          <p:cNvSpPr/>
          <p:nvPr/>
        </p:nvSpPr>
        <p:spPr>
          <a:xfrm>
            <a:off x="762000" y="1238250"/>
            <a:ext cx="10668000" cy="51435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F63E347-0D57-4C2D-AC4A-4041A8F0A652}"/>
              </a:ext>
            </a:extLst>
          </p:cNvPr>
          <p:cNvSpPr txBox="1"/>
          <p:nvPr/>
        </p:nvSpPr>
        <p:spPr>
          <a:xfrm>
            <a:off x="952500" y="1428750"/>
            <a:ext cx="10287000" cy="4953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A90D9"/>
                </a:solidFill>
                <a:latin typeface="PingFang SC"/>
                <a:ea typeface="PingFang SC"/>
              </a:rPr>
              <a:t>CVE-2024-44211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B0BEC5"/>
                </a:solidFill>
                <a:latin typeface="PingFang SC"/>
                <a:ea typeface="PingFang SC"/>
              </a:rPr>
              <a:t>AirDrop 未接来电泄露电话号码 | 影响: iOS &lt; 17.6 | 严重: 高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A90D9"/>
                </a:solidFill>
                <a:latin typeface="PingFang SC"/>
                <a:ea typeface="PingFang SC"/>
              </a:rPr>
              <a:t>CVE-2023-42916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B0BEC5"/>
                </a:solidFill>
                <a:latin typeface="PingFang SC"/>
                <a:ea typeface="PingFang SC"/>
              </a:rPr>
              <a:t>Wi-Fi 信息泄露通过侧信道 | 影响: iOS &lt; 17.1 | 严重: 中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A90D9"/>
                </a:solidFill>
                <a:latin typeface="PingFang SC"/>
                <a:ea typeface="PingFang SC"/>
              </a:rPr>
              <a:t>CVE-2023-38593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B0BEC5"/>
                </a:solidFill>
                <a:latin typeface="PingFang SC"/>
                <a:ea typeface="PingFang SC"/>
              </a:rPr>
              <a:t>蓝牙配对密钥泄露 | 影响: iOS &lt; 16.6 | 严重: 高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A90D9"/>
                </a:solidFill>
                <a:latin typeface="PingFang SC"/>
                <a:ea typeface="PingFang SC"/>
              </a:rPr>
              <a:t>CVE-2022-26712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B0BEC5"/>
                </a:solidFill>
                <a:latin typeface="PingFang SC"/>
                <a:ea typeface="PingFang SC"/>
              </a:rPr>
              <a:t>Wi-Fi 数据保护绕过 | 影响: iOS &lt; 15.5 | 严重: 高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A90D9"/>
                </a:solidFill>
                <a:latin typeface="PingFang SC"/>
                <a:ea typeface="PingFang SC"/>
              </a:rPr>
              <a:t>CVE-2021-30860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B0BEC5"/>
                </a:solidFill>
                <a:latin typeface="PingFang SC"/>
                <a:ea typeface="PingFang SC"/>
              </a:rPr>
              <a:t>基带处理器越界写入 | 影响: iOS &lt; 14.8 | 严重: 高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A90D9"/>
                </a:solidFill>
                <a:latin typeface="PingFang SC"/>
                <a:ea typeface="PingFang SC"/>
              </a:rPr>
              <a:t>CVE-2020-9861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B0BEC5"/>
                </a:solidFill>
                <a:latin typeface="PingFang SC"/>
                <a:ea typeface="PingFang SC"/>
              </a:rPr>
              <a:t>Wi-Fi 内存损坏远程代码执行 | 影响: iOS &lt; 13.5 | 严重: 严重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75EC0167-16E1-46F0-BACB-EC4BBB375833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820FF09-3A56-48C3-BAD8-F7A37CCA1CC2}"/>
              </a:ext>
            </a:extLst>
          </p:cNvPr>
          <p:cNvSpPr/>
          <p:nvPr/>
        </p:nvSpPr>
        <p:spPr>
          <a:xfrm>
            <a:off x="10287000" y="4953000"/>
            <a:ext cx="1905000" cy="1905000"/>
          </a:xfrm>
          <a:prstGeom prst="hexagon">
            <a:avLst/>
          </a:prstGeom>
          <a:solidFill>
            <a:srgbClr val="4A90D9">
              <a:alpha val="823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69F68CF-5E91-4293-BFBA-954C6DFF18D8}"/>
              </a:ext>
            </a:extLst>
          </p:cNvPr>
          <p:cNvSpPr/>
          <p:nvPr/>
        </p:nvSpPr>
        <p:spPr>
          <a:xfrm>
            <a:off x="571500" y="5524500"/>
            <a:ext cx="1333500" cy="1333500"/>
          </a:xfrm>
          <a:prstGeom prst="hexagon">
            <a:avLst/>
          </a:prstGeom>
          <a:solidFill>
            <a:srgbClr val="00D9A3">
              <a:alpha val="627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96794D-D0E2-407B-9C28-028CE6416E1A}"/>
              </a:ext>
            </a:extLst>
          </p:cNvPr>
          <p:cNvSpPr txBox="1"/>
          <p:nvPr/>
        </p:nvSpPr>
        <p:spPr>
          <a:xfrm>
            <a:off x="2286000" y="1143000"/>
            <a:ext cx="7620000" cy="548640"/>
          </a:xfrm>
        </p:spPr>
        <p:txBody>
          <a:bodyPr wrap="square" rtlCol="0" lIns="0" tIns="0" rIns="0" bIns="0" anchor="t"/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无线安全核心总结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17E4977-D343-4807-A5F8-7B38DB41AFEF}"/>
              </a:ext>
            </a:extLst>
          </p:cNvPr>
          <p:cNvSpPr/>
          <p:nvPr/>
        </p:nvSpPr>
        <p:spPr>
          <a:xfrm>
            <a:off x="1524000" y="2000250"/>
            <a:ext cx="9144000" cy="3238500"/>
          </a:xfrm>
          <a:prstGeom prst="roundRect">
            <a:avLst/>
          </a:prstGeom>
          <a:solidFill>
            <a:srgbClr val="132F4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59F4BFE-BA1D-48EA-8362-C46750E6B7F0}"/>
              </a:ext>
            </a:extLst>
          </p:cNvPr>
          <p:cNvSpPr txBox="1"/>
          <p:nvPr/>
        </p:nvSpPr>
        <p:spPr>
          <a:xfrm>
            <a:off x="1714500" y="2190750"/>
            <a:ext cx="8763000" cy="3048000"/>
          </a:xfrm>
        </p:spPr>
        <p:txBody>
          <a:bodyPr wrap="square" rtlCol="0" lIns="0" tIns="0" rIns="0" bIns="0" anchor="t"/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4A90D9"/>
                </a:solidFill>
                <a:latin typeface="PingFang SC"/>
                <a:ea typeface="PingFang SC"/>
              </a:rPr>
              <a:t>多层防御 · 硬件锚定 · 最小权限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B0BEC5"/>
                </a:solidFill>
                <a:latin typeface="PingFang SC"/>
                <a:ea typeface="PingFang SC"/>
              </a:rPr>
              <a:t>Wi-Fi: WPA3 + SAE + 私有地址 + ATS 强制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B0BEC5"/>
                </a:solidFill>
                <a:latin typeface="PingFang SC"/>
                <a:ea typeface="PingFang SC"/>
              </a:rPr>
              <a:t>蓝牙: MAC 随机化 + 用户授权 + 链路加密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B0BEC5"/>
                </a:solidFill>
                <a:latin typeface="PingFang SC"/>
                <a:ea typeface="PingFang SC"/>
              </a:rPr>
              <a:t>蜂窝: 5G SA + 基带隔离 + 运营商签名验证</a:t>
            </a:r>
          </a:p>
          <a:p>
            <a:pPr algn="ctr">
              <a:spcAft>
                <a:spcPts val="600"/>
              </a:spcAft>
            </a:pPr>
            <a:r>
              <a:rPr sz="1400">
                <a:solidFill>
                  <a:srgbClr val="B0BEC5"/>
                </a:solidFill>
                <a:latin typeface="PingFang SC"/>
                <a:ea typeface="PingFang SC"/>
              </a:rPr>
              <a:t>NFC: Secure Element + DPAN 令牌化 + 动态 CVV</a:t>
            </a:r>
          </a:p>
          <a:p>
            <a:pPr algn="ctr">
              <a:spcAft>
                <a:spcPts val="1400"/>
              </a:spcAft>
            </a:pPr>
            <a:r>
              <a:rPr sz="1400">
                <a:solidFill>
                  <a:srgbClr val="B0BEC5"/>
                </a:solidFill>
                <a:latin typeface="PingFang SC"/>
                <a:ea typeface="PingFang SC"/>
              </a:rPr>
              <a:t>隐私: 大致位置 + IP 随机化 + DNS over HTTPS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00D9A3"/>
                </a:solidFill>
                <a:latin typeface="PingFang SC"/>
                <a:ea typeface="PingFang SC"/>
              </a:rPr>
              <a:t>及时更新 · 最小权限 · 持续监控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B1D50E6-6957-41B2-AC40-90E2A2509F13}"/>
              </a:ext>
            </a:extLst>
          </p:cNvPr>
          <p:cNvSpPr txBox="1"/>
          <p:nvPr/>
        </p:nvSpPr>
        <p:spPr>
          <a:xfrm>
            <a:off x="3238500" y="5905500"/>
            <a:ext cx="5715000" cy="381000"/>
          </a:xfrm>
        </p:spPr>
        <p:txBody>
          <a:bodyPr wrap="square" rtlCol="0" lIns="0" tIns="0" rIns="0" bIns="0" anchor="t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607D8B"/>
                </a:solidFill>
                <a:latin typeface="PingFang SC"/>
                <a:ea typeface="PingFang SC"/>
              </a:rPr>
              <a:t>咨询ios系统请咨询 telegram: @pengqing666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