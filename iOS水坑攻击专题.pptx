
<file path=[Content_Types].xml><?xml version="1.0" encoding="utf-8"?>
<Types xmlns="http://schemas.openxmlformats.org/package/2006/content-types"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6135CA9-4079-4977-982F-2A8F909E6FE6}"/>
              </a:ext>
            </a:extLst>
          </p:cNvPr>
          <p:cNvSpPr/>
          <p:nvPr/>
        </p:nvSpPr>
        <p:spPr>
          <a:xfrm>
            <a:off x="7810500" y="571500"/>
            <a:ext cx="4381500" cy="5715000"/>
          </a:xfrm>
          <a:prstGeom prst="ellipse">
            <a:avLst/>
          </a:prstGeom>
          <a:solidFill>
            <a:srgbClr val="0F1D33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169BD00-B719-4647-9D20-7DC4239FB7A8}"/>
              </a:ext>
            </a:extLst>
          </p:cNvPr>
          <p:cNvSpPr/>
          <p:nvPr/>
        </p:nvSpPr>
        <p:spPr>
          <a:xfrm>
            <a:off x="8572500" y="1333500"/>
            <a:ext cx="3619500" cy="4191000"/>
          </a:xfrm>
          <a:prstGeom prst="ellipse">
            <a:avLst/>
          </a:prstGeom>
          <a:solidFill>
            <a:srgbClr val="132544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200BA0E-0887-48E8-8264-EDCD5698660B}"/>
              </a:ext>
            </a:extLst>
          </p:cNvPr>
          <p:cNvSpPr/>
          <p:nvPr/>
        </p:nvSpPr>
        <p:spPr>
          <a:xfrm>
            <a:off x="9334500" y="2095500"/>
            <a:ext cx="2667000" cy="2667000"/>
          </a:xfrm>
          <a:prstGeom prst="ellipse">
            <a:avLst/>
          </a:prstGeom>
          <a:solidFill>
            <a:srgbClr val="17305A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0CE6489-8AB1-4E09-BA58-B0E3C0BE61C7}"/>
              </a:ext>
            </a:extLst>
          </p:cNvPr>
          <p:cNvSpPr/>
          <p:nvPr/>
        </p:nvSpPr>
        <p:spPr>
          <a:xfrm>
            <a:off x="10096500" y="2857500"/>
            <a:ext cx="1143000" cy="1143000"/>
          </a:xfrm>
          <a:prstGeom prst="ellipse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D3C33B0B-49EC-4488-BF6A-05B200BE7956}"/>
              </a:ext>
            </a:extLst>
          </p:cNvPr>
          <p:cNvCxnSpPr/>
          <p:nvPr/>
        </p:nvCxnSpPr>
        <p:spPr>
          <a:xfrm>
            <a:off x="10668000" y="571500"/>
            <a:ext cx="9525" cy="5715000"/>
          </a:xfrm>
          <a:prstGeom prst="line">
            <a:avLst/>
          </a:prstGeom>
          <a:ln w="12700" cap="flat">
            <a:solidFill>
              <a:srgbClr val="1E3252"/>
            </a:solidFill>
          </a:ln>
        </p:spPr>
      </p:cxn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BFC6F3B6-4ABB-4E45-841E-FD4147D0E9BE}"/>
              </a:ext>
            </a:extLst>
          </p:cNvPr>
          <p:cNvCxnSpPr/>
          <p:nvPr/>
        </p:nvCxnSpPr>
        <p:spPr>
          <a:xfrm>
            <a:off x="7810500" y="3429000"/>
            <a:ext cx="4381500" cy="9525"/>
          </a:xfrm>
          <a:prstGeom prst="line">
            <a:avLst/>
          </a:prstGeom>
          <a:ln w="12700" cap="flat">
            <a:solidFill>
              <a:srgbClr val="1E3252"/>
            </a:solidFill>
          </a:ln>
        </p:spPr>
      </p:cxnSp>
      <p:sp>
        <p:nvSpPr>
          <p:cNvPr id="9" name="TextBox 9">
            <a:extLst>
              <a:ext uri="{FF2B5EF4-FFF2-40B4-BE49-F238E27FC236}">
                <a16:creationId xmlns:a16="http://schemas.microsoft.com/office/drawing/2014/main" id="{FE5AF004-5492-4998-8659-7CC5F8E88DD0}"/>
              </a:ext>
            </a:extLst>
          </p:cNvPr>
          <p:cNvSpPr txBox="1"/>
          <p:nvPr/>
        </p:nvSpPr>
        <p:spPr>
          <a:xfrm>
            <a:off x="762000" y="1143000"/>
            <a:ext cx="4762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0D4FF"/>
                </a:solidFill>
                <a:latin typeface="Segoe UI"/>
                <a:ea typeface="Segoe UI"/>
              </a:rPr>
              <a:t>SECURITY  BRIEFING  /  2026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998CD6E-BE2A-4561-8C2F-6E53BBF77DF5}"/>
              </a:ext>
            </a:extLst>
          </p:cNvPr>
          <p:cNvSpPr txBox="1"/>
          <p:nvPr/>
        </p:nvSpPr>
        <p:spPr>
          <a:xfrm>
            <a:off x="762000" y="1809750"/>
            <a:ext cx="7239000" cy="1047750"/>
          </a:xfrm>
        </p:spPr>
        <p:txBody>
          <a:bodyPr wrap="square" rtlCol="0" lIns="0" tIns="0" rIns="0" bIns="0" anchor="t"/>
          <a:lstStyle/>
          <a:p>
            <a:pPr algn="l"/>
            <a:r>
              <a:rPr sz="6800" b="1">
                <a:solidFill>
                  <a:srgbClr val="E8EEF7"/>
                </a:solidFill>
                <a:latin typeface="Microsoft YaHei"/>
                <a:ea typeface="Microsoft YaHei"/>
              </a:rPr>
              <a:t>iOS 水坑攻击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66F9E7E-A371-43EC-BFCF-5AB242966C01}"/>
              </a:ext>
            </a:extLst>
          </p:cNvPr>
          <p:cNvSpPr txBox="1"/>
          <p:nvPr/>
        </p:nvSpPr>
        <p:spPr>
          <a:xfrm>
            <a:off x="762000" y="3048000"/>
            <a:ext cx="6667500" cy="476250"/>
          </a:xfrm>
        </p:spPr>
        <p:txBody>
          <a:bodyPr wrap="square" rtlCol="0" lIns="0" tIns="0" rIns="0" bIns="0" anchor="t"/>
          <a:lstStyle/>
          <a:p>
            <a:pPr algn="l"/>
            <a:r>
              <a:rPr sz="2800">
                <a:solidFill>
                  <a:srgbClr val="94A3B8"/>
                </a:solidFill>
                <a:latin typeface="Microsoft YaHei"/>
                <a:ea typeface="Microsoft YaHei"/>
              </a:rPr>
              <a:t>零点击时代的隐形威胁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092B69C-F31B-49DF-B8A9-466852D45DB0}"/>
              </a:ext>
            </a:extLst>
          </p:cNvPr>
          <p:cNvSpPr txBox="1"/>
          <p:nvPr/>
        </p:nvSpPr>
        <p:spPr>
          <a:xfrm>
            <a:off x="762000" y="3810000"/>
            <a:ext cx="6477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Watering Hole Attacks on iOS — 攻陷合法网站、iframe 静默投递、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指纹筛选目标、从 WebKit 一路打到内核。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CC44038-E7E2-49B3-A640-CC0EEB42C8AA}"/>
              </a:ext>
            </a:extLst>
          </p:cNvPr>
          <p:cNvSpPr/>
          <p:nvPr/>
        </p:nvSpPr>
        <p:spPr>
          <a:xfrm>
            <a:off x="762000" y="5905500"/>
            <a:ext cx="533400" cy="28575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E1E5CEC-E30B-4DB3-8D3D-9DEF237E8AF7}"/>
              </a:ext>
            </a:extLst>
          </p:cNvPr>
          <p:cNvSpPr txBox="1"/>
          <p:nvPr/>
        </p:nvSpPr>
        <p:spPr>
          <a:xfrm>
            <a:off x="762000" y="6076950"/>
            <a:ext cx="666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7A8AA3"/>
                </a:solidFill>
                <a:latin typeface="Microsoft YaHei"/>
                <a:ea typeface="Microsoft YaHei"/>
              </a:rPr>
              <a:t>基于 Coruna / DarkSword 漏洞利用链公开情报整理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29E0656-3062-46FA-AFFC-61BD94C654C6}"/>
              </a:ext>
            </a:extLst>
          </p:cNvPr>
          <p:cNvSpPr txBox="1"/>
          <p:nvPr/>
        </p:nvSpPr>
        <p:spPr>
          <a:xfrm>
            <a:off x="10477500" y="6076950"/>
            <a:ext cx="15240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00D4FF"/>
                </a:solidFill>
                <a:latin typeface="Segoe UI"/>
                <a:ea typeface="Segoe UI"/>
              </a:rPr>
              <a:t>01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642D6C1-361D-49B1-A582-C9E5A86EB806}"/>
              </a:ext>
            </a:extLst>
          </p:cNvPr>
          <p:cNvSpPr txBox="1"/>
          <p:nvPr/>
        </p:nvSpPr>
        <p:spPr>
          <a:xfrm>
            <a:off x="762000" y="57150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0D4FF"/>
                </a:solidFill>
                <a:latin typeface="Segoe UI"/>
                <a:ea typeface="Segoe UI"/>
              </a:rPr>
              <a:t>02 · 概念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B1E2069-662E-4FFA-8195-7B2609087243}"/>
              </a:ext>
            </a:extLst>
          </p:cNvPr>
          <p:cNvSpPr txBox="1"/>
          <p:nvPr/>
        </p:nvSpPr>
        <p:spPr>
          <a:xfrm>
            <a:off x="762000" y="904875"/>
            <a:ext cx="66675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8EEF7"/>
                </a:solidFill>
                <a:latin typeface="Microsoft YaHei"/>
                <a:ea typeface="Microsoft YaHei"/>
              </a:rPr>
              <a:t>什么是水坑攻击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CAB8312-E1D8-48B5-BA14-C1AC8D5B6AE2}"/>
              </a:ext>
            </a:extLst>
          </p:cNvPr>
          <p:cNvSpPr/>
          <p:nvPr/>
        </p:nvSpPr>
        <p:spPr>
          <a:xfrm>
            <a:off x="762000" y="1524000"/>
            <a:ext cx="533400" cy="28575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2835C65-12E7-4535-86BE-2C20190E674A}"/>
              </a:ext>
            </a:extLst>
          </p:cNvPr>
          <p:cNvSpPr txBox="1"/>
          <p:nvPr/>
        </p:nvSpPr>
        <p:spPr>
          <a:xfrm>
            <a:off x="762000" y="1809750"/>
            <a:ext cx="5524500" cy="876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500">
                <a:solidFill>
                  <a:srgbClr val="B7C3D4"/>
                </a:solidFill>
                <a:latin typeface="Microsoft YaHei"/>
                <a:ea typeface="Microsoft YaHei"/>
              </a:rPr>
              <a:t>攻击者不直接接触目标，而是把恶意代码埋进目标人群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B7C3D4"/>
                </a:solidFill>
                <a:latin typeface="Microsoft YaHei"/>
                <a:ea typeface="Microsoft YaHei"/>
              </a:rPr>
              <a:t>常访问的合法网站里——就像猎手守在饮水的「水坑」旁。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4002CB6-1731-4276-9D6E-D2D24150A423}"/>
              </a:ext>
            </a:extLst>
          </p:cNvPr>
          <p:cNvSpPr/>
          <p:nvPr/>
        </p:nvSpPr>
        <p:spPr>
          <a:xfrm>
            <a:off x="762000" y="2952750"/>
            <a:ext cx="5524500" cy="30480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55E7A29-E76B-4B8F-AC23-58938413107E}"/>
              </a:ext>
            </a:extLst>
          </p:cNvPr>
          <p:cNvSpPr txBox="1"/>
          <p:nvPr/>
        </p:nvSpPr>
        <p:spPr>
          <a:xfrm>
            <a:off x="952500" y="3143250"/>
            <a:ext cx="5143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00D4FF"/>
                </a:solidFill>
                <a:latin typeface="Microsoft YaHei"/>
                <a:ea typeface="Microsoft YaHei"/>
              </a:rPr>
              <a:t>零点击的全部代价：一次访问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FB1ABDE-0B95-4310-9D6B-C9EEDE36EC5F}"/>
              </a:ext>
            </a:extLst>
          </p:cNvPr>
          <p:cNvSpPr txBox="1"/>
          <p:nvPr/>
        </p:nvSpPr>
        <p:spPr>
          <a:xfrm>
            <a:off x="952500" y="3581400"/>
            <a:ext cx="51435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</a:rPr>
              <a:t>•  无需点击链接，无需下载文件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8DA0BC"/>
                </a:solidFill>
                <a:latin typeface="Microsoft YaHei"/>
                <a:ea typeface="Microsoft YaHei"/>
              </a:rPr>
              <a:t>     用 Safari 打开被污染的页面，漏洞利用代码自动触发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C2DF071-1BD6-40D3-A2AA-1F6FA4EAA3F0}"/>
              </a:ext>
            </a:extLst>
          </p:cNvPr>
          <p:cNvSpPr txBox="1"/>
          <p:nvPr/>
        </p:nvSpPr>
        <p:spPr>
          <a:xfrm>
            <a:off x="952500" y="4419600"/>
            <a:ext cx="51435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</a:rPr>
              <a:t>•  合法网站作载体，URL 黑名单失效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8DA0BC"/>
                </a:solidFill>
                <a:latin typeface="Microsoft YaHei"/>
                <a:ea typeface="Microsoft YaHei"/>
              </a:rPr>
              <a:t>     被攻陷的新闻、论坛、行业资讯站在常规审计视野外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AD8F74C-1212-472A-A536-693BFBF2037A}"/>
              </a:ext>
            </a:extLst>
          </p:cNvPr>
          <p:cNvSpPr txBox="1"/>
          <p:nvPr/>
        </p:nvSpPr>
        <p:spPr>
          <a:xfrm>
            <a:off x="952500" y="5257800"/>
            <a:ext cx="51435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</a:rPr>
              <a:t>•  指纹筛选，只对高价值目标生效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8DA0BC"/>
                </a:solidFill>
                <a:latin typeface="Microsoft YaHei"/>
                <a:ea typeface="Microsoft YaHei"/>
              </a:rPr>
              <a:t>     依 UA / iOS 版本 / 设备型号判别，普通访客无感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3A8C3E2-75CC-4AA7-AD83-0CC95966204A}"/>
              </a:ext>
            </a:extLst>
          </p:cNvPr>
          <p:cNvSpPr/>
          <p:nvPr/>
        </p:nvSpPr>
        <p:spPr>
          <a:xfrm>
            <a:off x="6858000" y="2952750"/>
            <a:ext cx="4572000" cy="3048000"/>
          </a:xfrm>
          <a:prstGeom prst="roundRect">
            <a:avLst/>
          </a:prstGeom>
          <a:solidFill>
            <a:srgbClr val="0F1D33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B76CD44-E70A-493C-9394-9F0FDCF03695}"/>
              </a:ext>
            </a:extLst>
          </p:cNvPr>
          <p:cNvSpPr/>
          <p:nvPr/>
        </p:nvSpPr>
        <p:spPr>
          <a:xfrm>
            <a:off x="8096250" y="3333750"/>
            <a:ext cx="2095500" cy="2095500"/>
          </a:xfrm>
          <a:prstGeom prst="ellipse">
            <a:avLst/>
          </a:prstGeom>
          <a:solidFill>
            <a:srgbClr val="17305A"/>
          </a:solidFill>
          <a:ln w="12700">
            <a:solidFill>
              <a:srgbClr val="2A4F8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73E9FD5-F42A-4BEE-8A56-566CDE7FC179}"/>
              </a:ext>
            </a:extLst>
          </p:cNvPr>
          <p:cNvSpPr/>
          <p:nvPr/>
        </p:nvSpPr>
        <p:spPr>
          <a:xfrm>
            <a:off x="8429625" y="3667125"/>
            <a:ext cx="1428750" cy="1428750"/>
          </a:xfrm>
          <a:prstGeom prst="ellipse">
            <a:avLst/>
          </a:prstGeom>
          <a:solidFill>
            <a:srgbClr val="1E3E6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463BA4BF-F626-4105-B099-9A63C065948F}"/>
              </a:ext>
            </a:extLst>
          </p:cNvPr>
          <p:cNvSpPr/>
          <p:nvPr/>
        </p:nvSpPr>
        <p:spPr>
          <a:xfrm>
            <a:off x="8858250" y="4095750"/>
            <a:ext cx="571500" cy="571500"/>
          </a:xfrm>
          <a:prstGeom prst="ellipse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48C4424-7B65-4D7C-81B0-0C2A7DF7121D}"/>
              </a:ext>
            </a:extLst>
          </p:cNvPr>
          <p:cNvSpPr txBox="1"/>
          <p:nvPr/>
        </p:nvSpPr>
        <p:spPr>
          <a:xfrm>
            <a:off x="7239000" y="5543550"/>
            <a:ext cx="38100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宿主合法 · 内嵌 iframe · 指纹录屏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2BEC81E-2E67-4992-A1F9-430EFE299BE7}"/>
              </a:ext>
            </a:extLst>
          </p:cNvPr>
          <p:cNvSpPr txBox="1"/>
          <p:nvPr/>
        </p:nvSpPr>
        <p:spPr>
          <a:xfrm>
            <a:off x="7239000" y="5791200"/>
            <a:ext cx="3810000" cy="30480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</a:rPr>
              <a:t>猎手守在饮水处</a:t>
            </a:r>
          </a:p>
        </p:txBody>
      </p: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3D53330A-F98D-41C7-A65D-6A947177198C}"/>
              </a:ext>
            </a:extLst>
          </p:cNvPr>
          <p:cNvCxnSpPr/>
          <p:nvPr/>
        </p:nvCxnSpPr>
        <p:spPr>
          <a:xfrm>
            <a:off x="762000" y="6362700"/>
            <a:ext cx="10668000" cy="9525"/>
          </a:xfrm>
          <a:prstGeom prst="line">
            <a:avLst/>
          </a:prstGeom>
          <a:ln w="12700" cap="flat">
            <a:solidFill>
              <a:srgbClr val="1E3252"/>
            </a:solidFill>
          </a:ln>
        </p:spPr>
      </p:cxnSp>
      <p:sp>
        <p:nvSpPr>
          <p:cNvPr id="19" name="TextBox 19">
            <a:extLst>
              <a:ext uri="{FF2B5EF4-FFF2-40B4-BE49-F238E27FC236}">
                <a16:creationId xmlns:a16="http://schemas.microsoft.com/office/drawing/2014/main" id="{1D8844E3-D55C-487B-80BA-828D2AE112A9}"/>
              </a:ext>
            </a:extLst>
          </p:cNvPr>
          <p:cNvSpPr txBox="1"/>
          <p:nvPr/>
        </p:nvSpPr>
        <p:spPr>
          <a:xfrm>
            <a:off x="762000" y="6477000"/>
            <a:ext cx="571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7A8AA3"/>
                </a:solidFill>
                <a:latin typeface="Microsoft YaHei"/>
                <a:ea typeface="Microsoft YaHei"/>
              </a:rPr>
              <a:t>Watering Hole Attack · 「访问 = 触发」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5965A3E-7B76-4C62-B7B6-5E88B6BED52F}"/>
              </a:ext>
            </a:extLst>
          </p:cNvPr>
          <p:cNvSpPr txBox="1"/>
          <p:nvPr/>
        </p:nvSpPr>
        <p:spPr>
          <a:xfrm>
            <a:off x="9906000" y="6477000"/>
            <a:ext cx="1524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 b="1">
                <a:solidFill>
                  <a:srgbClr val="00D4FF"/>
                </a:solidFill>
                <a:latin typeface="Segoe UI"/>
                <a:ea typeface="Segoe UI"/>
              </a:rPr>
              <a:t>02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604C60-51B5-484F-8FB7-0F07F9B91C73}"/>
              </a:ext>
            </a:extLst>
          </p:cNvPr>
          <p:cNvSpPr txBox="1"/>
          <p:nvPr/>
        </p:nvSpPr>
        <p:spPr>
          <a:xfrm>
            <a:off x="762000" y="57150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0D4FF"/>
                </a:solidFill>
                <a:latin typeface="Segoe UI"/>
                <a:ea typeface="Segoe UI"/>
              </a:rPr>
              <a:t>03 · 流程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9558E1D-F661-4A13-93B8-4A96605FFC32}"/>
              </a:ext>
            </a:extLst>
          </p:cNvPr>
          <p:cNvSpPr txBox="1"/>
          <p:nvPr/>
        </p:nvSpPr>
        <p:spPr>
          <a:xfrm>
            <a:off x="762000" y="904875"/>
            <a:ext cx="57150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8EEF7"/>
                </a:solidFill>
                <a:latin typeface="Microsoft YaHei"/>
                <a:ea typeface="Microsoft YaHei"/>
              </a:rPr>
              <a:t>典型攻击流程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71B07C6-D936-4E0C-9326-3EEF011CBEAE}"/>
              </a:ext>
            </a:extLst>
          </p:cNvPr>
          <p:cNvSpPr/>
          <p:nvPr/>
        </p:nvSpPr>
        <p:spPr>
          <a:xfrm>
            <a:off x="762000" y="1524000"/>
            <a:ext cx="533400" cy="28575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B0A3E80-5E3E-479A-9561-AF8A2E9FD96F}"/>
              </a:ext>
            </a:extLst>
          </p:cNvPr>
          <p:cNvSpPr txBox="1"/>
          <p:nvPr/>
        </p:nvSpPr>
        <p:spPr>
          <a:xfrm>
            <a:off x="762000" y="1714500"/>
            <a:ext cx="8572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94A3B8"/>
                </a:solidFill>
                <a:latin typeface="Microsoft YaHei"/>
                <a:ea typeface="Microsoft YaHei"/>
              </a:rPr>
              <a:t>以 Coruna / DarkSword 攻击链为例。六步从选水坑到回传，全程零点击。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D289BD5-2D22-4614-9B14-4C2E550C0304}"/>
              </a:ext>
            </a:extLst>
          </p:cNvPr>
          <p:cNvSpPr/>
          <p:nvPr/>
        </p:nvSpPr>
        <p:spPr>
          <a:xfrm>
            <a:off x="1143000" y="2952750"/>
            <a:ext cx="9906000" cy="19050"/>
          </a:xfrm>
          <a:prstGeom prst="rect">
            <a:avLst/>
          </a:prstGeom>
          <a:solidFill>
            <a:srgbClr val="1E32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0CB81BB-B16A-4F86-B642-2BF5466BE1E9}"/>
              </a:ext>
            </a:extLst>
          </p:cNvPr>
          <p:cNvSpPr/>
          <p:nvPr/>
        </p:nvSpPr>
        <p:spPr>
          <a:xfrm>
            <a:off x="1143000" y="2952750"/>
            <a:ext cx="1714500" cy="19050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1D11617-36D0-4470-877E-E19429E74090}"/>
              </a:ext>
            </a:extLst>
          </p:cNvPr>
          <p:cNvSpPr/>
          <p:nvPr/>
        </p:nvSpPr>
        <p:spPr>
          <a:xfrm>
            <a:off x="876300" y="2686050"/>
            <a:ext cx="533400" cy="533400"/>
          </a:xfrm>
          <a:prstGeom prst="ellipse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9D0CC1E-A9E4-4615-A368-E28B2C3A3B74}"/>
              </a:ext>
            </a:extLst>
          </p:cNvPr>
          <p:cNvSpPr txBox="1"/>
          <p:nvPr/>
        </p:nvSpPr>
        <p:spPr>
          <a:xfrm>
            <a:off x="876300" y="2686050"/>
            <a:ext cx="533400" cy="533400"/>
          </a:xfrm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F3F808F-465A-4DFE-BF68-2B97420FA9F7}"/>
              </a:ext>
            </a:extLst>
          </p:cNvPr>
          <p:cNvSpPr/>
          <p:nvPr/>
        </p:nvSpPr>
        <p:spPr>
          <a:xfrm>
            <a:off x="2552700" y="2686050"/>
            <a:ext cx="533400" cy="533400"/>
          </a:xfrm>
          <a:prstGeom prst="ellipse">
            <a:avLst/>
          </a:prstGeom>
          <a:solidFill>
            <a:srgbClr val="142338"/>
          </a:solidFill>
          <a:ln w="25400">
            <a:solidFill>
              <a:srgbClr val="FF3B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4C5E696-C492-4D3E-B2DA-96118C5B5044}"/>
              </a:ext>
            </a:extLst>
          </p:cNvPr>
          <p:cNvSpPr txBox="1"/>
          <p:nvPr/>
        </p:nvSpPr>
        <p:spPr>
          <a:xfrm>
            <a:off x="2552700" y="2686050"/>
            <a:ext cx="533400" cy="533400"/>
          </a:xfrm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3B4D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54DA7DF-EE10-4DD0-B116-A2A403750B57}"/>
              </a:ext>
            </a:extLst>
          </p:cNvPr>
          <p:cNvSpPr/>
          <p:nvPr/>
        </p:nvSpPr>
        <p:spPr>
          <a:xfrm>
            <a:off x="4229100" y="2686050"/>
            <a:ext cx="533400" cy="533400"/>
          </a:xfrm>
          <a:prstGeom prst="ellipse">
            <a:avLst/>
          </a:prstGeom>
          <a:solidFill>
            <a:srgbClr val="142338"/>
          </a:solidFill>
          <a:ln w="25400">
            <a:solidFill>
              <a:srgbClr val="2A4F8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DCF0EBD-FE23-417B-96AF-D0052639E9D9}"/>
              </a:ext>
            </a:extLst>
          </p:cNvPr>
          <p:cNvSpPr txBox="1"/>
          <p:nvPr/>
        </p:nvSpPr>
        <p:spPr>
          <a:xfrm>
            <a:off x="4229100" y="2686050"/>
            <a:ext cx="533400" cy="533400"/>
          </a:xfrm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0D4FF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BF47B89-4FE1-42ED-A1E7-150949F1B12D}"/>
              </a:ext>
            </a:extLst>
          </p:cNvPr>
          <p:cNvSpPr/>
          <p:nvPr/>
        </p:nvSpPr>
        <p:spPr>
          <a:xfrm>
            <a:off x="5905500" y="2686050"/>
            <a:ext cx="533400" cy="533400"/>
          </a:xfrm>
          <a:prstGeom prst="ellipse">
            <a:avLst/>
          </a:prstGeom>
          <a:solidFill>
            <a:srgbClr val="142338"/>
          </a:solidFill>
          <a:ln w="25400">
            <a:solidFill>
              <a:srgbClr val="2A4F8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74A7928-A10E-4ED0-9D59-1734DC29F055}"/>
              </a:ext>
            </a:extLst>
          </p:cNvPr>
          <p:cNvSpPr txBox="1"/>
          <p:nvPr/>
        </p:nvSpPr>
        <p:spPr>
          <a:xfrm>
            <a:off x="5905500" y="2686050"/>
            <a:ext cx="533400" cy="533400"/>
          </a:xfrm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0D4FF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77656D7C-43CD-4D79-B8B3-6AF03FF3421F}"/>
              </a:ext>
            </a:extLst>
          </p:cNvPr>
          <p:cNvSpPr/>
          <p:nvPr/>
        </p:nvSpPr>
        <p:spPr>
          <a:xfrm>
            <a:off x="7581900" y="2686050"/>
            <a:ext cx="533400" cy="533400"/>
          </a:xfrm>
          <a:prstGeom prst="ellipse">
            <a:avLst/>
          </a:prstGeom>
          <a:solidFill>
            <a:srgbClr val="142338"/>
          </a:solidFill>
          <a:ln w="25400">
            <a:solidFill>
              <a:srgbClr val="2A4F8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91DF0E0-5DC7-48D4-BA43-C73041706ADC}"/>
              </a:ext>
            </a:extLst>
          </p:cNvPr>
          <p:cNvSpPr txBox="1"/>
          <p:nvPr/>
        </p:nvSpPr>
        <p:spPr>
          <a:xfrm>
            <a:off x="7581900" y="2686050"/>
            <a:ext cx="533400" cy="533400"/>
          </a:xfrm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0D4FF"/>
                </a:solidFill>
                <a:latin typeface="Segoe UI"/>
                <a:ea typeface="Segoe UI"/>
              </a:rPr>
              <a:t>05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7EF6249A-AD36-48D7-9BBA-FF072AA136DE}"/>
              </a:ext>
            </a:extLst>
          </p:cNvPr>
          <p:cNvSpPr/>
          <p:nvPr/>
        </p:nvSpPr>
        <p:spPr>
          <a:xfrm>
            <a:off x="9258300" y="2686050"/>
            <a:ext cx="533400" cy="533400"/>
          </a:xfrm>
          <a:prstGeom prst="ellipse">
            <a:avLst/>
          </a:prstGeom>
          <a:solidFill>
            <a:srgbClr val="142338"/>
          </a:solidFill>
          <a:ln w="25400">
            <a:solidFill>
              <a:srgbClr val="2A4F8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7A74F32-81D3-45E6-A395-C522E6AFC3BD}"/>
              </a:ext>
            </a:extLst>
          </p:cNvPr>
          <p:cNvSpPr txBox="1"/>
          <p:nvPr/>
        </p:nvSpPr>
        <p:spPr>
          <a:xfrm>
            <a:off x="9258300" y="2686050"/>
            <a:ext cx="533400" cy="533400"/>
          </a:xfrm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0D4FF"/>
                </a:solidFill>
                <a:latin typeface="Segoe UI"/>
                <a:ea typeface="Segoe UI"/>
              </a:rPr>
              <a:t>06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C929993-BBD2-4F19-9A8F-06E50060CAFC}"/>
              </a:ext>
            </a:extLst>
          </p:cNvPr>
          <p:cNvSpPr txBox="1"/>
          <p:nvPr/>
        </p:nvSpPr>
        <p:spPr>
          <a:xfrm>
            <a:off x="381000" y="3352800"/>
            <a:ext cx="1524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</a:rPr>
              <a:t>选定水坑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F633DF4-E3B5-4426-A82A-57FB3B9C37E2}"/>
              </a:ext>
            </a:extLst>
          </p:cNvPr>
          <p:cNvSpPr txBox="1"/>
          <p:nvPr/>
        </p:nvSpPr>
        <p:spPr>
          <a:xfrm>
            <a:off x="381000" y="3638550"/>
            <a:ext cx="1524000" cy="952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50000"/>
              </a:lnSpc>
            </a:pPr>
            <a:r>
              <a:rPr sz="1100">
                <a:solidFill>
                  <a:srgbClr val="8DA0BC"/>
                </a:solidFill>
                <a:latin typeface="Microsoft YaHei"/>
                <a:ea typeface="Microsoft YaHei"/>
              </a:rPr>
              <a:t>攻陷目标人群常访问的合法网站：新闻、行业论坛、交易所资讯站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CD2C9BD-74D6-4761-B21E-2184FAAF788C}"/>
              </a:ext>
            </a:extLst>
          </p:cNvPr>
          <p:cNvSpPr txBox="1"/>
          <p:nvPr/>
        </p:nvSpPr>
        <p:spPr>
          <a:xfrm>
            <a:off x="2057400" y="3352800"/>
            <a:ext cx="1524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</a:rPr>
              <a:t>注入 iframe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AB8683A-96AC-4DF6-B034-CD0478FD5D21}"/>
              </a:ext>
            </a:extLst>
          </p:cNvPr>
          <p:cNvSpPr txBox="1"/>
          <p:nvPr/>
        </p:nvSpPr>
        <p:spPr>
          <a:xfrm>
            <a:off x="2057400" y="3638550"/>
            <a:ext cx="1524000" cy="952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50000"/>
              </a:lnSpc>
            </a:pPr>
            <a:r>
              <a:rPr sz="1100">
                <a:solidFill>
                  <a:srgbClr val="8DA0BC"/>
                </a:solidFill>
                <a:latin typeface="Microsoft YaHei"/>
                <a:ea typeface="Microsoft YaHei"/>
              </a:rPr>
              <a:t>在页面中嵌入几乎不可见的 iframe，指向漏洞利用服务器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63A3D5A-4964-4D7C-8A7E-0CE7DC18B277}"/>
              </a:ext>
            </a:extLst>
          </p:cNvPr>
          <p:cNvSpPr txBox="1"/>
          <p:nvPr/>
        </p:nvSpPr>
        <p:spPr>
          <a:xfrm>
            <a:off x="3733800" y="3352800"/>
            <a:ext cx="1524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</a:rPr>
              <a:t>指纹识别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ABD6418-A29D-463C-8815-3201D546D689}"/>
              </a:ext>
            </a:extLst>
          </p:cNvPr>
          <p:cNvSpPr txBox="1"/>
          <p:nvPr/>
        </p:nvSpPr>
        <p:spPr>
          <a:xfrm>
            <a:off x="3733800" y="3638550"/>
            <a:ext cx="1524000" cy="952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50000"/>
              </a:lnSpc>
            </a:pPr>
            <a:r>
              <a:rPr sz="1100">
                <a:solidFill>
                  <a:srgbClr val="8DA0BC"/>
                </a:solidFill>
                <a:latin typeface="Microsoft YaHei"/>
                <a:ea typeface="Microsoft YaHei"/>
              </a:rPr>
              <a:t>服务器按 UA / iOS 版本 / 设备型号过滤，只对匹配目标下发载荷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93F1268-220D-4FAB-8EC9-E42B9D1563A5}"/>
              </a:ext>
            </a:extLst>
          </p:cNvPr>
          <p:cNvSpPr txBox="1"/>
          <p:nvPr/>
        </p:nvSpPr>
        <p:spPr>
          <a:xfrm>
            <a:off x="5410200" y="3352800"/>
            <a:ext cx="1524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</a:rPr>
              <a:t>漏洞链触发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6A823FD-AAB0-4144-A63C-9F08B0ABEE57}"/>
              </a:ext>
            </a:extLst>
          </p:cNvPr>
          <p:cNvSpPr txBox="1"/>
          <p:nvPr/>
        </p:nvSpPr>
        <p:spPr>
          <a:xfrm>
            <a:off x="5410200" y="3638550"/>
            <a:ext cx="1524000" cy="952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50000"/>
              </a:lnSpc>
            </a:pPr>
            <a:r>
              <a:rPr sz="1100">
                <a:solidFill>
                  <a:srgbClr val="8DA0BC"/>
                </a:solidFill>
                <a:latin typeface="Microsoft YaHei"/>
                <a:ea typeface="Microsoft YaHei"/>
              </a:rPr>
              <a:t>WebKit RCE → 沙盒逃逸 → PAC 绕过 → 内核提权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6991710-3A28-4ADE-8136-81288A14D5DA}"/>
              </a:ext>
            </a:extLst>
          </p:cNvPr>
          <p:cNvSpPr txBox="1"/>
          <p:nvPr/>
        </p:nvSpPr>
        <p:spPr>
          <a:xfrm>
            <a:off x="7086600" y="3352800"/>
            <a:ext cx="1524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</a:rPr>
              <a:t>载荷植入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3F66A1D-B785-41F6-A98F-15C68C38212B}"/>
              </a:ext>
            </a:extLst>
          </p:cNvPr>
          <p:cNvSpPr txBox="1"/>
          <p:nvPr/>
        </p:nvSpPr>
        <p:spPr>
          <a:xfrm>
            <a:off x="7086600" y="3638550"/>
            <a:ext cx="1524000" cy="952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50000"/>
              </a:lnSpc>
            </a:pPr>
            <a:r>
              <a:rPr sz="1100">
                <a:solidFill>
                  <a:srgbClr val="8DA0BC"/>
                </a:solidFill>
                <a:latin typeface="Microsoft YaHei"/>
                <a:ea typeface="Microsoft YaHei"/>
              </a:rPr>
              <a:t>下发 GHOSTBLADE 等内存驻留模块，不写入磁盘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65E86AE-8CCC-46D9-AB4E-BBDA3131D9BE}"/>
              </a:ext>
            </a:extLst>
          </p:cNvPr>
          <p:cNvSpPr txBox="1"/>
          <p:nvPr/>
        </p:nvSpPr>
        <p:spPr>
          <a:xfrm>
            <a:off x="8763000" y="3352800"/>
            <a:ext cx="1524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E8EEF7"/>
                </a:solidFill>
                <a:latin typeface="Microsoft YaHei"/>
                <a:ea typeface="Microsoft YaHei"/>
              </a:rPr>
              <a:t>数据回传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7C522EF5-C6C1-4FE3-9C69-020AB4682599}"/>
              </a:ext>
            </a:extLst>
          </p:cNvPr>
          <p:cNvSpPr txBox="1"/>
          <p:nvPr/>
        </p:nvSpPr>
        <p:spPr>
          <a:xfrm>
            <a:off x="8763000" y="3638550"/>
            <a:ext cx="1524000" cy="952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50000"/>
              </a:lnSpc>
            </a:pPr>
            <a:r>
              <a:rPr sz="1100">
                <a:solidFill>
                  <a:srgbClr val="8DA0BC"/>
                </a:solidFill>
                <a:latin typeface="Microsoft YaHei"/>
                <a:ea typeface="Microsoft YaHei"/>
              </a:rPr>
              <a:t>钱包 / 钥匙串 / 短信 / 通讯录 / 聊天记录 上传 C2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6726244-2CAE-4636-8D20-F916D6E6BC12}"/>
              </a:ext>
            </a:extLst>
          </p:cNvPr>
          <p:cNvSpPr/>
          <p:nvPr/>
        </p:nvSpPr>
        <p:spPr>
          <a:xfrm>
            <a:off x="952500" y="5143500"/>
            <a:ext cx="10287000" cy="9525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9528242-FB9E-4A79-A678-325196FD770A}"/>
              </a:ext>
            </a:extLst>
          </p:cNvPr>
          <p:cNvSpPr txBox="1"/>
          <p:nvPr/>
        </p:nvSpPr>
        <p:spPr>
          <a:xfrm>
            <a:off x="1238250" y="5314950"/>
            <a:ext cx="285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3B4D"/>
                </a:solidFill>
                <a:latin typeface="Microsoft YaHei"/>
                <a:ea typeface="Microsoft YaHei"/>
              </a:rPr>
              <a:t>关键观察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D5E61870-1078-452C-B5BA-B902168E514A}"/>
              </a:ext>
            </a:extLst>
          </p:cNvPr>
          <p:cNvSpPr txBox="1"/>
          <p:nvPr/>
        </p:nvSpPr>
        <p:spPr>
          <a:xfrm>
            <a:off x="1238250" y="5619750"/>
            <a:ext cx="97155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前三步完成在服务器端——受害者暂不论做啥；后三步仅在被筛选中的设备上执行，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具有高度定向性、难复现、非目标访客完全感知不到。</a:t>
            </a:r>
          </a:p>
        </p:txBody>
      </p:sp>
      <p:cxnSp>
        <p:nvCxnSpPr>
          <p:cNvPr id="36" name="Straight Connector 36">
            <a:extLst>
              <a:ext uri="{FF2B5EF4-FFF2-40B4-BE49-F238E27FC236}">
                <a16:creationId xmlns:a16="http://schemas.microsoft.com/office/drawing/2014/main" id="{84E38506-2D4A-413F-83E4-C102B0D7847F}"/>
              </a:ext>
            </a:extLst>
          </p:cNvPr>
          <p:cNvCxnSpPr/>
          <p:nvPr/>
        </p:nvCxnSpPr>
        <p:spPr>
          <a:xfrm>
            <a:off x="762000" y="6362700"/>
            <a:ext cx="10668000" cy="9525"/>
          </a:xfrm>
          <a:prstGeom prst="line">
            <a:avLst/>
          </a:prstGeom>
          <a:ln w="12700" cap="flat">
            <a:solidFill>
              <a:srgbClr val="1E3252"/>
            </a:solidFill>
          </a:ln>
        </p:spPr>
      </p:cxnSp>
      <p:sp>
        <p:nvSpPr>
          <p:cNvPr id="37" name="TextBox 37">
            <a:extLst>
              <a:ext uri="{FF2B5EF4-FFF2-40B4-BE49-F238E27FC236}">
                <a16:creationId xmlns:a16="http://schemas.microsoft.com/office/drawing/2014/main" id="{1DEFC449-C586-48E3-BC2A-C9947BCDA2B8}"/>
              </a:ext>
            </a:extLst>
          </p:cNvPr>
          <p:cNvSpPr txBox="1"/>
          <p:nvPr/>
        </p:nvSpPr>
        <p:spPr>
          <a:xfrm>
            <a:off x="762000" y="6477000"/>
            <a:ext cx="666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7A8AA3"/>
                </a:solidFill>
                <a:latin typeface="Microsoft YaHei"/>
                <a:ea typeface="Microsoft YaHei"/>
              </a:rPr>
              <a:t>6 Stages · Server-side filtering → On-device exploit chain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21B88C18-403D-47DD-8BD7-D1B667AADE6A}"/>
              </a:ext>
            </a:extLst>
          </p:cNvPr>
          <p:cNvSpPr txBox="1"/>
          <p:nvPr/>
        </p:nvSpPr>
        <p:spPr>
          <a:xfrm>
            <a:off x="9906000" y="6477000"/>
            <a:ext cx="1524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 b="1">
                <a:solidFill>
                  <a:srgbClr val="00D4FF"/>
                </a:solidFill>
                <a:latin typeface="Segoe UI"/>
                <a:ea typeface="Segoe UI"/>
              </a:rPr>
              <a:t>03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C096CA7-B1BB-48D4-94D2-F090F0DFEA63}"/>
              </a:ext>
            </a:extLst>
          </p:cNvPr>
          <p:cNvSpPr txBox="1"/>
          <p:nvPr/>
        </p:nvSpPr>
        <p:spPr>
          <a:xfrm>
            <a:off x="762000" y="57150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0D4FF"/>
                </a:solidFill>
                <a:latin typeface="Segoe UI"/>
                <a:ea typeface="Segoe UI"/>
              </a:rPr>
              <a:t>04 · 技术链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4666327-8C0F-4DEE-9D21-9F939D6A1D49}"/>
              </a:ext>
            </a:extLst>
          </p:cNvPr>
          <p:cNvSpPr txBox="1"/>
          <p:nvPr/>
        </p:nvSpPr>
        <p:spPr>
          <a:xfrm>
            <a:off x="762000" y="904875"/>
            <a:ext cx="57150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8EEF7"/>
                </a:solidFill>
                <a:latin typeface="Microsoft YaHei"/>
                <a:ea typeface="Microsoft YaHei"/>
              </a:rPr>
              <a:t>技术利用链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1D40742-BBD9-4850-83D7-2D717C592697}"/>
              </a:ext>
            </a:extLst>
          </p:cNvPr>
          <p:cNvSpPr/>
          <p:nvPr/>
        </p:nvSpPr>
        <p:spPr>
          <a:xfrm>
            <a:off x="762000" y="1524000"/>
            <a:ext cx="533400" cy="28575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962A817-4365-4A14-BB17-2A44D63A4569}"/>
              </a:ext>
            </a:extLst>
          </p:cNvPr>
          <p:cNvSpPr txBox="1"/>
          <p:nvPr/>
        </p:nvSpPr>
        <p:spPr>
          <a:xfrm>
            <a:off x="762000" y="1714500"/>
            <a:ext cx="952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94A3B8"/>
                </a:solidFill>
                <a:latin typeface="Microsoft YaHei"/>
                <a:ea typeface="Microsoft YaHei"/>
              </a:rPr>
              <a:t>DarkSword 公开样本拼接的四阶段漏洞利用链，覆盖 iOS 18.4 至 18.7。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306124B-39F4-4325-B30E-6083EDBB6961}"/>
              </a:ext>
            </a:extLst>
          </p:cNvPr>
          <p:cNvSpPr/>
          <p:nvPr/>
        </p:nvSpPr>
        <p:spPr>
          <a:xfrm>
            <a:off x="762000" y="2095500"/>
            <a:ext cx="2476500" cy="40005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D6B7C85-7118-474E-B1D9-994B76664276}"/>
              </a:ext>
            </a:extLst>
          </p:cNvPr>
          <p:cNvSpPr/>
          <p:nvPr/>
        </p:nvSpPr>
        <p:spPr>
          <a:xfrm>
            <a:off x="762000" y="2095500"/>
            <a:ext cx="2476500" cy="38100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CC9243E-A0B8-4D0F-B342-9183A07B4332}"/>
              </a:ext>
            </a:extLst>
          </p:cNvPr>
          <p:cNvSpPr txBox="1"/>
          <p:nvPr/>
        </p:nvSpPr>
        <p:spPr>
          <a:xfrm>
            <a:off x="952500" y="2286000"/>
            <a:ext cx="2095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3B4D"/>
                </a:solidFill>
                <a:latin typeface="Segoe UI"/>
                <a:ea typeface="Segoe UI"/>
              </a:rPr>
              <a:t>STAGE 01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45DACA0-491D-4BFC-AD71-4DD88680C018}"/>
              </a:ext>
            </a:extLst>
          </p:cNvPr>
          <p:cNvSpPr txBox="1"/>
          <p:nvPr/>
        </p:nvSpPr>
        <p:spPr>
          <a:xfrm>
            <a:off x="952500" y="2552700"/>
            <a:ext cx="2095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EEF7"/>
                </a:solidFill>
                <a:latin typeface="Microsoft YaHei"/>
                <a:ea typeface="Microsoft YaHei"/>
              </a:rPr>
              <a:t>入口·RCE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D7ACCA5-40CF-4FDB-B8B4-BECB60961DAA}"/>
              </a:ext>
            </a:extLst>
          </p:cNvPr>
          <p:cNvSpPr txBox="1"/>
          <p:nvPr/>
        </p:nvSpPr>
        <p:spPr>
          <a:xfrm>
            <a:off x="952500" y="2857500"/>
            <a:ext cx="2095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远程代码执行</a:t>
            </a:r>
          </a:p>
        </p:txBody>
      </p: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853F5469-FD86-4B06-9F8B-B9E6A6F74828}"/>
              </a:ext>
            </a:extLst>
          </p:cNvPr>
          <p:cNvCxnSpPr/>
          <p:nvPr/>
        </p:nvCxnSpPr>
        <p:spPr>
          <a:xfrm>
            <a:off x="952500" y="3181350"/>
            <a:ext cx="2095500" cy="9525"/>
          </a:xfrm>
          <a:prstGeom prst="line">
            <a:avLst/>
          </a:prstGeom>
          <a:ln w="12700" cap="flat">
            <a:solidFill>
              <a:srgbClr val="1E3252"/>
            </a:solidFill>
          </a:ln>
        </p:spPr>
      </p:cxnSp>
      <p:sp>
        <p:nvSpPr>
          <p:cNvPr id="13" name="TextBox 13">
            <a:extLst>
              <a:ext uri="{FF2B5EF4-FFF2-40B4-BE49-F238E27FC236}">
                <a16:creationId xmlns:a16="http://schemas.microsoft.com/office/drawing/2014/main" id="{FF649381-531B-42D1-A00C-BF4D72C26F88}"/>
              </a:ext>
            </a:extLst>
          </p:cNvPr>
          <p:cNvSpPr txBox="1"/>
          <p:nvPr/>
        </p:nvSpPr>
        <p:spPr>
          <a:xfrm>
            <a:off x="952500" y="3314700"/>
            <a:ext cx="2095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0D4FF"/>
                </a:solidFill>
                <a:latin typeface="Segoe UI"/>
                <a:ea typeface="Segoe UI"/>
              </a:rPr>
              <a:t>CVE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E8DF8D8-A978-49E5-B07C-26A9D7F1D1AB}"/>
              </a:ext>
            </a:extLst>
          </p:cNvPr>
          <p:cNvSpPr txBox="1"/>
          <p:nvPr/>
        </p:nvSpPr>
        <p:spPr>
          <a:xfrm>
            <a:off x="952500" y="3581400"/>
            <a:ext cx="20955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E8EEF7"/>
                </a:solidFill>
                <a:latin typeface="Microsoft YaHei"/>
                <a:ea typeface="Microsoft YaHei"/>
              </a:rPr>
              <a:t>CVE-2025-31277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E8EEF7"/>
                </a:solidFill>
                <a:latin typeface="Microsoft YaHei"/>
                <a:ea typeface="Microsoft YaHei"/>
              </a:rPr>
              <a:t>CVE-2025-43529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8AFA394-2ED9-44BE-A3BA-31D9B36A1AF2}"/>
              </a:ext>
            </a:extLst>
          </p:cNvPr>
          <p:cNvSpPr txBox="1"/>
          <p:nvPr/>
        </p:nvSpPr>
        <p:spPr>
          <a:xfrm>
            <a:off x="952500" y="4857750"/>
            <a:ext cx="20955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8DA0BC"/>
                </a:solidFill>
                <a:latin typeface="Microsoft YaHei"/>
                <a:ea typeface="Microsoft YaHei"/>
              </a:rPr>
              <a:t>WebKit 内存越界 → 在 Safari 浏览器进程跳转恶意代码。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A55A38A-3B67-4663-89E0-DBD7A2728069}"/>
              </a:ext>
            </a:extLst>
          </p:cNvPr>
          <p:cNvSpPr/>
          <p:nvPr/>
        </p:nvSpPr>
        <p:spPr>
          <a:xfrm>
            <a:off x="3429000" y="2095500"/>
            <a:ext cx="2476500" cy="40005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B5291D1D-DA33-44EE-B02A-7ECA276F59CD}"/>
              </a:ext>
            </a:extLst>
          </p:cNvPr>
          <p:cNvSpPr/>
          <p:nvPr/>
        </p:nvSpPr>
        <p:spPr>
          <a:xfrm>
            <a:off x="3429000" y="2095500"/>
            <a:ext cx="2476500" cy="38100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DB3F5F8-D94E-4E18-A1E9-368F08897959}"/>
              </a:ext>
            </a:extLst>
          </p:cNvPr>
          <p:cNvSpPr txBox="1"/>
          <p:nvPr/>
        </p:nvSpPr>
        <p:spPr>
          <a:xfrm>
            <a:off x="3619500" y="2286000"/>
            <a:ext cx="2095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3B4D"/>
                </a:solidFill>
                <a:latin typeface="Segoe UI"/>
                <a:ea typeface="Segoe UI"/>
              </a:rPr>
              <a:t>STAGE 02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BD9304E-AB02-44AF-A9F4-ACCA9017B27A}"/>
              </a:ext>
            </a:extLst>
          </p:cNvPr>
          <p:cNvSpPr txBox="1"/>
          <p:nvPr/>
        </p:nvSpPr>
        <p:spPr>
          <a:xfrm>
            <a:off x="3619500" y="2552700"/>
            <a:ext cx="2095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EEF7"/>
                </a:solidFill>
                <a:latin typeface="Microsoft YaHei"/>
                <a:ea typeface="Microsoft YaHei"/>
              </a:rPr>
              <a:t>沙盒逃逸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46A38D5-BE54-4BCC-9D04-88A9AC962330}"/>
              </a:ext>
            </a:extLst>
          </p:cNvPr>
          <p:cNvSpPr txBox="1"/>
          <p:nvPr/>
        </p:nvSpPr>
        <p:spPr>
          <a:xfrm>
            <a:off x="3619500" y="2857500"/>
            <a:ext cx="2095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提权前置</a:t>
            </a:r>
          </a:p>
        </p:txBody>
      </p: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02288F0D-097B-4399-8AF0-7D34666A1E91}"/>
              </a:ext>
            </a:extLst>
          </p:cNvPr>
          <p:cNvCxnSpPr/>
          <p:nvPr/>
        </p:nvCxnSpPr>
        <p:spPr>
          <a:xfrm>
            <a:off x="3619500" y="3181350"/>
            <a:ext cx="2095500" cy="9525"/>
          </a:xfrm>
          <a:prstGeom prst="line">
            <a:avLst/>
          </a:prstGeom>
          <a:ln w="12700" cap="flat">
            <a:solidFill>
              <a:srgbClr val="1E3252"/>
            </a:solidFill>
          </a:ln>
        </p:spPr>
      </p:cxnSp>
      <p:sp>
        <p:nvSpPr>
          <p:cNvPr id="22" name="TextBox 22">
            <a:extLst>
              <a:ext uri="{FF2B5EF4-FFF2-40B4-BE49-F238E27FC236}">
                <a16:creationId xmlns:a16="http://schemas.microsoft.com/office/drawing/2014/main" id="{1FFF0A95-708C-4C3B-B93A-978129CB197D}"/>
              </a:ext>
            </a:extLst>
          </p:cNvPr>
          <p:cNvSpPr txBox="1"/>
          <p:nvPr/>
        </p:nvSpPr>
        <p:spPr>
          <a:xfrm>
            <a:off x="3619500" y="3314700"/>
            <a:ext cx="2095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0D4FF"/>
                </a:solidFill>
                <a:latin typeface="Segoe UI"/>
                <a:ea typeface="Segoe UI"/>
              </a:rPr>
              <a:t>CVE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56AA33C-1BB1-4FD2-8772-B7048A41DB9B}"/>
              </a:ext>
            </a:extLst>
          </p:cNvPr>
          <p:cNvSpPr txBox="1"/>
          <p:nvPr/>
        </p:nvSpPr>
        <p:spPr>
          <a:xfrm>
            <a:off x="3619500" y="3581400"/>
            <a:ext cx="2095500" cy="27736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E8EEF7"/>
                </a:solidFill>
                <a:latin typeface="Microsoft YaHei"/>
                <a:ea typeface="Microsoft YaHei"/>
              </a:rPr>
              <a:t>CVE-2025-14174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C5E52FF-FC8E-477D-BB09-8CA24CFF377C}"/>
              </a:ext>
            </a:extLst>
          </p:cNvPr>
          <p:cNvSpPr txBox="1"/>
          <p:nvPr/>
        </p:nvSpPr>
        <p:spPr>
          <a:xfrm>
            <a:off x="3619500" y="4857750"/>
            <a:ext cx="20955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8DA0BC"/>
                </a:solidFill>
                <a:latin typeface="Microsoft YaHei"/>
                <a:ea typeface="Microsoft YaHei"/>
              </a:rPr>
              <a:t>突破 Safari 沙盒限制 → 获取更高权限进程上下文。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78F876BF-0DD9-4044-B2E6-CD2F43BB503C}"/>
              </a:ext>
            </a:extLst>
          </p:cNvPr>
          <p:cNvSpPr/>
          <p:nvPr/>
        </p:nvSpPr>
        <p:spPr>
          <a:xfrm>
            <a:off x="6096000" y="2095500"/>
            <a:ext cx="2476500" cy="40005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3601C320-2895-4542-8C6D-B0A370F3E832}"/>
              </a:ext>
            </a:extLst>
          </p:cNvPr>
          <p:cNvSpPr/>
          <p:nvPr/>
        </p:nvSpPr>
        <p:spPr>
          <a:xfrm>
            <a:off x="6096000" y="2095500"/>
            <a:ext cx="2476500" cy="38100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49BCFA8-1767-4E7A-ACF1-D3CFAD70CA5A}"/>
              </a:ext>
            </a:extLst>
          </p:cNvPr>
          <p:cNvSpPr txBox="1"/>
          <p:nvPr/>
        </p:nvSpPr>
        <p:spPr>
          <a:xfrm>
            <a:off x="6286500" y="2286000"/>
            <a:ext cx="2095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3B4D"/>
                </a:solidFill>
                <a:latin typeface="Segoe UI"/>
                <a:ea typeface="Segoe UI"/>
              </a:rPr>
              <a:t>STAGE 03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47E535B-7D44-4674-A9AC-975F430B7E92}"/>
              </a:ext>
            </a:extLst>
          </p:cNvPr>
          <p:cNvSpPr txBox="1"/>
          <p:nvPr/>
        </p:nvSpPr>
        <p:spPr>
          <a:xfrm>
            <a:off x="6286500" y="2552700"/>
            <a:ext cx="2095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EEF7"/>
                </a:solidFill>
                <a:latin typeface="Microsoft YaHei"/>
                <a:ea typeface="Microsoft YaHei"/>
              </a:rPr>
              <a:t>PAC 绕过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6BF5CFA-A9D0-48E8-9401-4FB743D2988C}"/>
              </a:ext>
            </a:extLst>
          </p:cNvPr>
          <p:cNvSpPr txBox="1"/>
          <p:nvPr/>
        </p:nvSpPr>
        <p:spPr>
          <a:xfrm>
            <a:off x="6286500" y="2857500"/>
            <a:ext cx="2095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缓解机制规避</a:t>
            </a:r>
          </a:p>
        </p:txBody>
      </p:sp>
      <p:cxnSp>
        <p:nvCxnSpPr>
          <p:cNvPr id="30" name="Straight Connector 30">
            <a:extLst>
              <a:ext uri="{FF2B5EF4-FFF2-40B4-BE49-F238E27FC236}">
                <a16:creationId xmlns:a16="http://schemas.microsoft.com/office/drawing/2014/main" id="{F1355D43-EF1E-4EDC-9100-ABBF9E333A34}"/>
              </a:ext>
            </a:extLst>
          </p:cNvPr>
          <p:cNvCxnSpPr/>
          <p:nvPr/>
        </p:nvCxnSpPr>
        <p:spPr>
          <a:xfrm>
            <a:off x="6286500" y="3181350"/>
            <a:ext cx="2095500" cy="9525"/>
          </a:xfrm>
          <a:prstGeom prst="line">
            <a:avLst/>
          </a:prstGeom>
          <a:ln w="12700" cap="flat">
            <a:solidFill>
              <a:srgbClr val="1E3252"/>
            </a:solidFill>
          </a:ln>
        </p:spPr>
      </p:cxnSp>
      <p:sp>
        <p:nvSpPr>
          <p:cNvPr id="31" name="TextBox 31">
            <a:extLst>
              <a:ext uri="{FF2B5EF4-FFF2-40B4-BE49-F238E27FC236}">
                <a16:creationId xmlns:a16="http://schemas.microsoft.com/office/drawing/2014/main" id="{7627E2F7-041D-414F-90E7-150D242CBB15}"/>
              </a:ext>
            </a:extLst>
          </p:cNvPr>
          <p:cNvSpPr txBox="1"/>
          <p:nvPr/>
        </p:nvSpPr>
        <p:spPr>
          <a:xfrm>
            <a:off x="6286500" y="3314700"/>
            <a:ext cx="2095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0D4FF"/>
                </a:solidFill>
                <a:latin typeface="Segoe UI"/>
                <a:ea typeface="Segoe UI"/>
              </a:rPr>
              <a:t>CVE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05EE08A-5BD6-4E67-9F75-0F17D7151636}"/>
              </a:ext>
            </a:extLst>
          </p:cNvPr>
          <p:cNvSpPr txBox="1"/>
          <p:nvPr/>
        </p:nvSpPr>
        <p:spPr>
          <a:xfrm>
            <a:off x="6286500" y="3581400"/>
            <a:ext cx="2095500" cy="27736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E8EEF7"/>
                </a:solidFill>
                <a:latin typeface="Microsoft YaHei"/>
                <a:ea typeface="Microsoft YaHei"/>
              </a:rPr>
              <a:t>CVE-2026-20700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1E4A4396-F938-4E96-85DD-9EEEC14C78C6}"/>
              </a:ext>
            </a:extLst>
          </p:cNvPr>
          <p:cNvSpPr txBox="1"/>
          <p:nvPr/>
        </p:nvSpPr>
        <p:spPr>
          <a:xfrm>
            <a:off x="6286500" y="4857750"/>
            <a:ext cx="20955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8DA0BC"/>
                </a:solidFill>
                <a:latin typeface="Microsoft YaHei"/>
                <a:ea typeface="Microsoft YaHei"/>
              </a:rPr>
              <a:t>指针认证（PAC）被绕过，为内核提权打开路。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D6AD124A-8461-4873-8782-1839E8F75066}"/>
              </a:ext>
            </a:extLst>
          </p:cNvPr>
          <p:cNvSpPr/>
          <p:nvPr/>
        </p:nvSpPr>
        <p:spPr>
          <a:xfrm>
            <a:off x="8763000" y="2095500"/>
            <a:ext cx="2476500" cy="40005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74786A07-59D8-4AEA-8BEC-2959D9C96AC3}"/>
              </a:ext>
            </a:extLst>
          </p:cNvPr>
          <p:cNvSpPr/>
          <p:nvPr/>
        </p:nvSpPr>
        <p:spPr>
          <a:xfrm>
            <a:off x="8763000" y="2095500"/>
            <a:ext cx="2476500" cy="38100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6CE1BDFD-B85E-4837-AEF2-7D9AAE045B39}"/>
              </a:ext>
            </a:extLst>
          </p:cNvPr>
          <p:cNvSpPr txBox="1"/>
          <p:nvPr/>
        </p:nvSpPr>
        <p:spPr>
          <a:xfrm>
            <a:off x="8953500" y="2286000"/>
            <a:ext cx="2095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3B4D"/>
                </a:solidFill>
                <a:latin typeface="Segoe UI"/>
                <a:ea typeface="Segoe UI"/>
              </a:rPr>
              <a:t>STAGE 04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E430681D-627F-4B59-A922-FE70843D07DD}"/>
              </a:ext>
            </a:extLst>
          </p:cNvPr>
          <p:cNvSpPr txBox="1"/>
          <p:nvPr/>
        </p:nvSpPr>
        <p:spPr>
          <a:xfrm>
            <a:off x="8953500" y="2552700"/>
            <a:ext cx="2095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EEF7"/>
                </a:solidFill>
                <a:latin typeface="Microsoft YaHei"/>
                <a:ea typeface="Microsoft YaHei"/>
              </a:rPr>
              <a:t>内核提权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D668A6D-D16A-473E-91D7-2B6E971F3C5A}"/>
              </a:ext>
            </a:extLst>
          </p:cNvPr>
          <p:cNvSpPr txBox="1"/>
          <p:nvPr/>
        </p:nvSpPr>
        <p:spPr>
          <a:xfrm>
            <a:off x="8953500" y="2857500"/>
            <a:ext cx="2095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最高权限获取</a:t>
            </a:r>
          </a:p>
        </p:txBody>
      </p:sp>
      <p:cxnSp>
        <p:nvCxnSpPr>
          <p:cNvPr id="39" name="Straight Connector 39">
            <a:extLst>
              <a:ext uri="{FF2B5EF4-FFF2-40B4-BE49-F238E27FC236}">
                <a16:creationId xmlns:a16="http://schemas.microsoft.com/office/drawing/2014/main" id="{8AA89B66-59AC-43DF-A20B-EF397807C12F}"/>
              </a:ext>
            </a:extLst>
          </p:cNvPr>
          <p:cNvCxnSpPr/>
          <p:nvPr/>
        </p:nvCxnSpPr>
        <p:spPr>
          <a:xfrm>
            <a:off x="8953500" y="3181350"/>
            <a:ext cx="2095500" cy="9525"/>
          </a:xfrm>
          <a:prstGeom prst="line">
            <a:avLst/>
          </a:prstGeom>
          <a:ln w="12700" cap="flat">
            <a:solidFill>
              <a:srgbClr val="1E3252"/>
            </a:solidFill>
          </a:ln>
        </p:spPr>
      </p:cxnSp>
      <p:sp>
        <p:nvSpPr>
          <p:cNvPr id="40" name="TextBox 40">
            <a:extLst>
              <a:ext uri="{FF2B5EF4-FFF2-40B4-BE49-F238E27FC236}">
                <a16:creationId xmlns:a16="http://schemas.microsoft.com/office/drawing/2014/main" id="{239DD2A4-BB9C-48EE-9D95-8E52D2BA0AC8}"/>
              </a:ext>
            </a:extLst>
          </p:cNvPr>
          <p:cNvSpPr txBox="1"/>
          <p:nvPr/>
        </p:nvSpPr>
        <p:spPr>
          <a:xfrm>
            <a:off x="8953500" y="3314700"/>
            <a:ext cx="2095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0D4FF"/>
                </a:solidFill>
                <a:latin typeface="Segoe UI"/>
                <a:ea typeface="Segoe UI"/>
              </a:rPr>
              <a:t>CVE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8AB8513A-F4E3-4812-9B5A-04BE01E72B03}"/>
              </a:ext>
            </a:extLst>
          </p:cNvPr>
          <p:cNvSpPr txBox="1"/>
          <p:nvPr/>
        </p:nvSpPr>
        <p:spPr>
          <a:xfrm>
            <a:off x="8953500" y="3581400"/>
            <a:ext cx="20955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E8EEF7"/>
                </a:solidFill>
                <a:latin typeface="Microsoft YaHei"/>
                <a:ea typeface="Microsoft YaHei"/>
              </a:rPr>
              <a:t>CVE-2025-43510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E8EEF7"/>
                </a:solidFill>
                <a:latin typeface="Microsoft YaHei"/>
                <a:ea typeface="Microsoft YaHei"/>
              </a:rPr>
              <a:t>CVE-2025-43520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8F0F04BB-C32F-4AE8-AFC4-F79920748C71}"/>
              </a:ext>
            </a:extLst>
          </p:cNvPr>
          <p:cNvSpPr txBox="1"/>
          <p:nvPr/>
        </p:nvSpPr>
        <p:spPr>
          <a:xfrm>
            <a:off x="8953500" y="4857750"/>
            <a:ext cx="20955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8DA0BC"/>
                </a:solidFill>
                <a:latin typeface="Microsoft YaHei"/>
                <a:ea typeface="Microsoft YaHei"/>
              </a:rPr>
              <a:t>入核提权 → 读取钥匙串、注入内存駐留载荷。</a:t>
            </a:r>
          </a:p>
        </p:txBody>
      </p:sp>
      <p:cxnSp>
        <p:nvCxnSpPr>
          <p:cNvPr id="43" name="Straight Connector 43">
            <a:extLst>
              <a:ext uri="{FF2B5EF4-FFF2-40B4-BE49-F238E27FC236}">
                <a16:creationId xmlns:a16="http://schemas.microsoft.com/office/drawing/2014/main" id="{6B823240-E96B-4BBF-922C-F1A7462CEF97}"/>
              </a:ext>
            </a:extLst>
          </p:cNvPr>
          <p:cNvCxnSpPr/>
          <p:nvPr/>
        </p:nvCxnSpPr>
        <p:spPr>
          <a:xfrm>
            <a:off x="762000" y="6362700"/>
            <a:ext cx="10668000" cy="9525"/>
          </a:xfrm>
          <a:prstGeom prst="line">
            <a:avLst/>
          </a:prstGeom>
          <a:ln w="12700" cap="flat">
            <a:solidFill>
              <a:srgbClr val="1E3252"/>
            </a:solidFill>
          </a:ln>
        </p:spPr>
      </p:cxnSp>
      <p:sp>
        <p:nvSpPr>
          <p:cNvPr id="44" name="TextBox 44">
            <a:extLst>
              <a:ext uri="{FF2B5EF4-FFF2-40B4-BE49-F238E27FC236}">
                <a16:creationId xmlns:a16="http://schemas.microsoft.com/office/drawing/2014/main" id="{8FC75CA9-B02C-40C6-95C0-9019081D05A7}"/>
              </a:ext>
            </a:extLst>
          </p:cNvPr>
          <p:cNvSpPr txBox="1"/>
          <p:nvPr/>
        </p:nvSpPr>
        <p:spPr>
          <a:xfrm>
            <a:off x="762000" y="6477000"/>
            <a:ext cx="666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7A8AA3"/>
                </a:solidFill>
                <a:latin typeface="Microsoft YaHei"/>
                <a:ea typeface="Microsoft YaHei"/>
              </a:rPr>
              <a:t>Chain fixed by Apple in iOS 26.3 · Backport in iOS 18.7.6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E39296E6-07E5-4259-9E0F-555CC48DF770}"/>
              </a:ext>
            </a:extLst>
          </p:cNvPr>
          <p:cNvSpPr txBox="1"/>
          <p:nvPr/>
        </p:nvSpPr>
        <p:spPr>
          <a:xfrm>
            <a:off x="9906000" y="6477000"/>
            <a:ext cx="1524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 b="1">
                <a:solidFill>
                  <a:srgbClr val="00D4FF"/>
                </a:solidFill>
                <a:latin typeface="Segoe UI"/>
                <a:ea typeface="Segoe UI"/>
              </a:rPr>
              <a:t>04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CFFE38F-7CD4-448E-8606-1E208800B9F2}"/>
              </a:ext>
            </a:extLst>
          </p:cNvPr>
          <p:cNvSpPr txBox="1"/>
          <p:nvPr/>
        </p:nvSpPr>
        <p:spPr>
          <a:xfrm>
            <a:off x="762000" y="57150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0D4FF"/>
                </a:solidFill>
                <a:latin typeface="Segoe UI"/>
                <a:ea typeface="Segoe UI"/>
              </a:rPr>
              <a:t>05 · iOS 特性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E17DC96-895E-4249-8213-5467F4196E22}"/>
              </a:ext>
            </a:extLst>
          </p:cNvPr>
          <p:cNvSpPr txBox="1"/>
          <p:nvPr/>
        </p:nvSpPr>
        <p:spPr>
          <a:xfrm>
            <a:off x="762000" y="904875"/>
            <a:ext cx="76200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8EEF7"/>
                </a:solidFill>
                <a:latin typeface="Microsoft YaHei"/>
                <a:ea typeface="Microsoft YaHei"/>
              </a:rPr>
              <a:t>为什么对 iOS 尤其危险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0292246-64A7-47BC-8380-280B165D85E2}"/>
              </a:ext>
            </a:extLst>
          </p:cNvPr>
          <p:cNvSpPr/>
          <p:nvPr/>
        </p:nvSpPr>
        <p:spPr>
          <a:xfrm>
            <a:off x="762000" y="1524000"/>
            <a:ext cx="533400" cy="28575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85CE573-2D80-426F-BAEC-6389EC9FB162}"/>
              </a:ext>
            </a:extLst>
          </p:cNvPr>
          <p:cNvSpPr txBox="1"/>
          <p:nvPr/>
        </p:nvSpPr>
        <p:spPr>
          <a:xfrm>
            <a:off x="762000" y="1714500"/>
            <a:ext cx="952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94A3B8"/>
                </a:solidFill>
                <a:latin typeface="Microsoft YaHei"/>
                <a:ea typeface="Microsoft YaHei"/>
              </a:rPr>
              <a:t>封闭生态 + 零点击 + 无文件，五重因素让传统防御全面失效。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9DFBDA9-5E4E-43F9-A6F9-4A94BC703163}"/>
              </a:ext>
            </a:extLst>
          </p:cNvPr>
          <p:cNvSpPr/>
          <p:nvPr/>
        </p:nvSpPr>
        <p:spPr>
          <a:xfrm>
            <a:off x="762000" y="2190750"/>
            <a:ext cx="10668000" cy="7239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890C0FA-2084-4A49-997E-5667DCE8FEFE}"/>
              </a:ext>
            </a:extLst>
          </p:cNvPr>
          <p:cNvSpPr/>
          <p:nvPr/>
        </p:nvSpPr>
        <p:spPr>
          <a:xfrm>
            <a:off x="952500" y="2286000"/>
            <a:ext cx="533400" cy="533400"/>
          </a:xfrm>
          <a:prstGeom prst="round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54F843-6AA3-4749-AA2B-FDE66873BBFE}"/>
              </a:ext>
            </a:extLst>
          </p:cNvPr>
          <p:cNvSpPr txBox="1"/>
          <p:nvPr/>
        </p:nvSpPr>
        <p:spPr>
          <a:xfrm>
            <a:off x="952500" y="2286000"/>
            <a:ext cx="533400" cy="533400"/>
          </a:xfrm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4A7BFD3-2E05-4FBE-953E-6A5845D7402B}"/>
              </a:ext>
            </a:extLst>
          </p:cNvPr>
          <p:cNvSpPr txBox="1"/>
          <p:nvPr/>
        </p:nvSpPr>
        <p:spPr>
          <a:xfrm>
            <a:off x="1714500" y="2362200"/>
            <a:ext cx="247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8EEF7"/>
                </a:solidFill>
                <a:latin typeface="Microsoft YaHei"/>
                <a:ea typeface="Microsoft YaHei"/>
              </a:rPr>
              <a:t>零点击触发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0983B13-99BA-465C-921F-B54DB6093F8C}"/>
              </a:ext>
            </a:extLst>
          </p:cNvPr>
          <p:cNvSpPr txBox="1"/>
          <p:nvPr/>
        </p:nvSpPr>
        <p:spPr>
          <a:xfrm>
            <a:off x="1714500" y="2647950"/>
            <a:ext cx="2476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Zero-click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A1F08A2-A3CD-4C60-A7CB-32B3D0C59C11}"/>
              </a:ext>
            </a:extLst>
          </p:cNvPr>
          <p:cNvSpPr txBox="1"/>
          <p:nvPr/>
        </p:nvSpPr>
        <p:spPr>
          <a:xfrm>
            <a:off x="4381500" y="2438400"/>
            <a:ext cx="6477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用户无任何操作，访问即中招，社工教育难以奏效。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0C4CF30-FC23-41B7-91A2-CC27FA2607AE}"/>
              </a:ext>
            </a:extLst>
          </p:cNvPr>
          <p:cNvSpPr/>
          <p:nvPr/>
        </p:nvSpPr>
        <p:spPr>
          <a:xfrm>
            <a:off x="762000" y="3009900"/>
            <a:ext cx="10668000" cy="7239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13BB911-4C5A-457E-ABA7-C33B1AF82F0C}"/>
              </a:ext>
            </a:extLst>
          </p:cNvPr>
          <p:cNvSpPr/>
          <p:nvPr/>
        </p:nvSpPr>
        <p:spPr>
          <a:xfrm>
            <a:off x="952500" y="3105150"/>
            <a:ext cx="533400" cy="533400"/>
          </a:xfrm>
          <a:prstGeom prst="round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4CC150A-CA79-4A6F-B0F4-068ECFEADF88}"/>
              </a:ext>
            </a:extLst>
          </p:cNvPr>
          <p:cNvSpPr txBox="1"/>
          <p:nvPr/>
        </p:nvSpPr>
        <p:spPr>
          <a:xfrm>
            <a:off x="952500" y="3105150"/>
            <a:ext cx="533400" cy="533400"/>
          </a:xfrm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43778E2-47B3-42C4-BFB8-D1947C4D66B7}"/>
              </a:ext>
            </a:extLst>
          </p:cNvPr>
          <p:cNvSpPr txBox="1"/>
          <p:nvPr/>
        </p:nvSpPr>
        <p:spPr>
          <a:xfrm>
            <a:off x="1714500" y="3181350"/>
            <a:ext cx="247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8EEF7"/>
                </a:solidFill>
                <a:latin typeface="Microsoft YaHei"/>
                <a:ea typeface="Microsoft YaHei"/>
              </a:rPr>
              <a:t>载体是合法网站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53AC38A-E086-46D2-9F2A-2F661A4F703D}"/>
              </a:ext>
            </a:extLst>
          </p:cNvPr>
          <p:cNvSpPr txBox="1"/>
          <p:nvPr/>
        </p:nvSpPr>
        <p:spPr>
          <a:xfrm>
            <a:off x="1714500" y="3467100"/>
            <a:ext cx="2476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URL 黑名单失效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31C548A-9AE5-43C3-8565-8B166577A5BB}"/>
              </a:ext>
            </a:extLst>
          </p:cNvPr>
          <p:cNvSpPr txBox="1"/>
          <p:nvPr/>
        </p:nvSpPr>
        <p:spPr>
          <a:xfrm>
            <a:off x="4381500" y="3257550"/>
            <a:ext cx="6477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传统 URL 信誉、企业上网审计、杀毒软件均无法识别。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98B7EF05-7C30-4AD7-AB39-85E072094358}"/>
              </a:ext>
            </a:extLst>
          </p:cNvPr>
          <p:cNvSpPr/>
          <p:nvPr/>
        </p:nvSpPr>
        <p:spPr>
          <a:xfrm>
            <a:off x="762000" y="3829050"/>
            <a:ext cx="10668000" cy="7239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42825BD4-998C-4829-B311-517B1198E9CE}"/>
              </a:ext>
            </a:extLst>
          </p:cNvPr>
          <p:cNvSpPr/>
          <p:nvPr/>
        </p:nvSpPr>
        <p:spPr>
          <a:xfrm>
            <a:off x="952500" y="3924300"/>
            <a:ext cx="533400" cy="533400"/>
          </a:xfrm>
          <a:prstGeom prst="round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3686985-91B5-4639-AB86-946A69D61967}"/>
              </a:ext>
            </a:extLst>
          </p:cNvPr>
          <p:cNvSpPr txBox="1"/>
          <p:nvPr/>
        </p:nvSpPr>
        <p:spPr>
          <a:xfrm>
            <a:off x="952500" y="3924300"/>
            <a:ext cx="533400" cy="533400"/>
          </a:xfrm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A8C1FDA-1C39-41B9-B6E7-3CC8A8A3256F}"/>
              </a:ext>
            </a:extLst>
          </p:cNvPr>
          <p:cNvSpPr txBox="1"/>
          <p:nvPr/>
        </p:nvSpPr>
        <p:spPr>
          <a:xfrm>
            <a:off x="1714500" y="4000500"/>
            <a:ext cx="247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8EEF7"/>
                </a:solidFill>
                <a:latin typeface="Microsoft YaHei"/>
                <a:ea typeface="Microsoft YaHei"/>
              </a:rPr>
              <a:t>载荷无文件落地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638474B-B321-453E-8443-F46583B44CF5}"/>
              </a:ext>
            </a:extLst>
          </p:cNvPr>
          <p:cNvSpPr txBox="1"/>
          <p:nvPr/>
        </p:nvSpPr>
        <p:spPr>
          <a:xfrm>
            <a:off x="1714500" y="4286250"/>
            <a:ext cx="2476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In-memory only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F737B1E-B7D1-4DA1-97F4-626619C243D6}"/>
              </a:ext>
            </a:extLst>
          </p:cNvPr>
          <p:cNvSpPr txBox="1"/>
          <p:nvPr/>
        </p:nvSpPr>
        <p:spPr>
          <a:xfrm>
            <a:off x="4381500" y="4076700"/>
            <a:ext cx="6477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内存驻留、重启清除、再次访问即复感染，取证极难。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0CACA754-8B44-482B-AA82-159B43B815E1}"/>
              </a:ext>
            </a:extLst>
          </p:cNvPr>
          <p:cNvSpPr/>
          <p:nvPr/>
        </p:nvSpPr>
        <p:spPr>
          <a:xfrm>
            <a:off x="762000" y="4648200"/>
            <a:ext cx="10668000" cy="7239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CADCEC13-96FE-4E73-90F5-81036576EC04}"/>
              </a:ext>
            </a:extLst>
          </p:cNvPr>
          <p:cNvSpPr/>
          <p:nvPr/>
        </p:nvSpPr>
        <p:spPr>
          <a:xfrm>
            <a:off x="952500" y="4743450"/>
            <a:ext cx="533400" cy="533400"/>
          </a:xfrm>
          <a:prstGeom prst="round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1543ADF-4895-447D-868E-70FE7ED1C602}"/>
              </a:ext>
            </a:extLst>
          </p:cNvPr>
          <p:cNvSpPr txBox="1"/>
          <p:nvPr/>
        </p:nvSpPr>
        <p:spPr>
          <a:xfrm>
            <a:off x="952500" y="4743450"/>
            <a:ext cx="533400" cy="533400"/>
          </a:xfrm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2ED58FA-FA25-4234-B3C1-3239589CDF63}"/>
              </a:ext>
            </a:extLst>
          </p:cNvPr>
          <p:cNvSpPr txBox="1"/>
          <p:nvPr/>
        </p:nvSpPr>
        <p:spPr>
          <a:xfrm>
            <a:off x="1714500" y="4819650"/>
            <a:ext cx="247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8EEF7"/>
                </a:solidFill>
                <a:latin typeface="Microsoft YaHei"/>
                <a:ea typeface="Microsoft YaHei"/>
              </a:rPr>
              <a:t>iOS 封闭生态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497D62F-0DA2-4A5A-BF3B-89A71DB1D532}"/>
              </a:ext>
            </a:extLst>
          </p:cNvPr>
          <p:cNvSpPr txBox="1"/>
          <p:nvPr/>
        </p:nvSpPr>
        <p:spPr>
          <a:xfrm>
            <a:off x="1714500" y="5105400"/>
            <a:ext cx="2476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无法装 EDR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0266773A-7985-46DE-8749-138EC835966B}"/>
              </a:ext>
            </a:extLst>
          </p:cNvPr>
          <p:cNvSpPr txBox="1"/>
          <p:nvPr/>
        </p:nvSpPr>
        <p:spPr>
          <a:xfrm>
            <a:off x="4381500" y="4895850"/>
            <a:ext cx="6477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个人用户无法安装第三方端点检测或深度扫描工具。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ED1DF294-9146-4CAF-8E5E-596C53A321BC}"/>
              </a:ext>
            </a:extLst>
          </p:cNvPr>
          <p:cNvSpPr/>
          <p:nvPr/>
        </p:nvSpPr>
        <p:spPr>
          <a:xfrm>
            <a:off x="762000" y="5467350"/>
            <a:ext cx="10668000" cy="7239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4315DC8B-B18E-46DE-BD3B-7D7F1B708B43}"/>
              </a:ext>
            </a:extLst>
          </p:cNvPr>
          <p:cNvSpPr/>
          <p:nvPr/>
        </p:nvSpPr>
        <p:spPr>
          <a:xfrm>
            <a:off x="952500" y="5562600"/>
            <a:ext cx="533400" cy="533400"/>
          </a:xfrm>
          <a:prstGeom prst="round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722521D-A534-4784-858D-7027A5EA15B2}"/>
              </a:ext>
            </a:extLst>
          </p:cNvPr>
          <p:cNvSpPr txBox="1"/>
          <p:nvPr/>
        </p:nvSpPr>
        <p:spPr>
          <a:xfrm>
            <a:off x="952500" y="5562600"/>
            <a:ext cx="533400" cy="533400"/>
          </a:xfrm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</a:rPr>
              <a:t>05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1DA5E629-DFF7-4ABD-BDAD-D79959C92506}"/>
              </a:ext>
            </a:extLst>
          </p:cNvPr>
          <p:cNvSpPr txBox="1"/>
          <p:nvPr/>
        </p:nvSpPr>
        <p:spPr>
          <a:xfrm>
            <a:off x="1714500" y="5638800"/>
            <a:ext cx="247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8EEF7"/>
                </a:solidFill>
                <a:latin typeface="Microsoft YaHei"/>
                <a:ea typeface="Microsoft YaHei"/>
              </a:rPr>
              <a:t>精准投放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578DADD-B62E-4D01-8F1A-DFF6C3804598}"/>
              </a:ext>
            </a:extLst>
          </p:cNvPr>
          <p:cNvSpPr txBox="1"/>
          <p:nvPr/>
        </p:nvSpPr>
        <p:spPr>
          <a:xfrm>
            <a:off x="1714500" y="5924550"/>
            <a:ext cx="2476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指纹录屏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95CF094A-B79E-445F-82BD-063E0ABADCC4}"/>
              </a:ext>
            </a:extLst>
          </p:cNvPr>
          <p:cNvSpPr txBox="1"/>
          <p:nvPr/>
        </p:nvSpPr>
        <p:spPr>
          <a:xfrm>
            <a:off x="4381500" y="5715000"/>
            <a:ext cx="6477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指纹识别使攻击只对高价值目标生效，暴露面极小。</a:t>
            </a:r>
          </a:p>
        </p:txBody>
      </p:sp>
      <p:cxnSp>
        <p:nvCxnSpPr>
          <p:cNvPr id="37" name="Straight Connector 37">
            <a:extLst>
              <a:ext uri="{FF2B5EF4-FFF2-40B4-BE49-F238E27FC236}">
                <a16:creationId xmlns:a16="http://schemas.microsoft.com/office/drawing/2014/main" id="{0116D754-6174-4641-A9ED-1F345AD9CF9E}"/>
              </a:ext>
            </a:extLst>
          </p:cNvPr>
          <p:cNvCxnSpPr/>
          <p:nvPr/>
        </p:nvCxnSpPr>
        <p:spPr>
          <a:xfrm>
            <a:off x="762000" y="6362700"/>
            <a:ext cx="10668000" cy="9525"/>
          </a:xfrm>
          <a:prstGeom prst="line">
            <a:avLst/>
          </a:prstGeom>
          <a:ln w="12700" cap="flat">
            <a:solidFill>
              <a:srgbClr val="1E3252"/>
            </a:solidFill>
          </a:ln>
        </p:spPr>
      </p:cxnSp>
      <p:sp>
        <p:nvSpPr>
          <p:cNvPr id="38" name="TextBox 38">
            <a:extLst>
              <a:ext uri="{FF2B5EF4-FFF2-40B4-BE49-F238E27FC236}">
                <a16:creationId xmlns:a16="http://schemas.microsoft.com/office/drawing/2014/main" id="{7703D717-BA88-41C8-9F21-B59F483F8081}"/>
              </a:ext>
            </a:extLst>
          </p:cNvPr>
          <p:cNvSpPr txBox="1"/>
          <p:nvPr/>
        </p:nvSpPr>
        <p:spPr>
          <a:xfrm>
            <a:off x="762000" y="6477000"/>
            <a:ext cx="571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7A8AA3"/>
                </a:solidFill>
                <a:latin typeface="Microsoft YaHei"/>
                <a:ea typeface="Microsoft YaHei"/>
              </a:rPr>
              <a:t>应对传统治理边界外的威胁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74CE8EA-51DB-4AD3-96FB-164BDC0BAEEF}"/>
              </a:ext>
            </a:extLst>
          </p:cNvPr>
          <p:cNvSpPr txBox="1"/>
          <p:nvPr/>
        </p:nvSpPr>
        <p:spPr>
          <a:xfrm>
            <a:off x="9906000" y="6477000"/>
            <a:ext cx="1524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 b="1">
                <a:solidFill>
                  <a:srgbClr val="00D4FF"/>
                </a:solidFill>
                <a:latin typeface="Segoe UI"/>
                <a:ea typeface="Segoe UI"/>
              </a:rPr>
              <a:t>05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62F5C31-73FC-43EE-8A7C-4D94D8F3FE24}"/>
              </a:ext>
            </a:extLst>
          </p:cNvPr>
          <p:cNvSpPr txBox="1"/>
          <p:nvPr/>
        </p:nvSpPr>
        <p:spPr>
          <a:xfrm>
            <a:off x="609600" y="53340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E8EEF7"/>
                </a:solidFill>
                <a:latin typeface="Microsoft YaHei"/>
                <a:ea typeface="Microsoft YaHei"/>
              </a:rPr>
              <a:t>真实案例线索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AB9FCE1-0529-43AE-B467-27F5178D288E}"/>
              </a:ext>
            </a:extLst>
          </p:cNvPr>
          <p:cNvSpPr/>
          <p:nvPr/>
        </p:nvSpPr>
        <p:spPr>
          <a:xfrm>
            <a:off x="609600" y="1066800"/>
            <a:ext cx="533400" cy="38100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D1CBF6F-DCB6-4A2B-BAF3-0F29A20BADD9}"/>
              </a:ext>
            </a:extLst>
          </p:cNvPr>
          <p:cNvSpPr txBox="1"/>
          <p:nvPr/>
        </p:nvSpPr>
        <p:spPr>
          <a:xfrm>
            <a:off x="1295400" y="952500"/>
            <a:ext cx="7620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8DA0BC"/>
                </a:solidFill>
                <a:latin typeface="Microsoft YaHei"/>
                <a:ea typeface="Microsoft YaHei"/>
              </a:rPr>
              <a:t>国家级 APT 反复使用的手法,并非孤立事件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4BDF1B2-05BD-4D77-83A4-1E0C8139E43C}"/>
              </a:ext>
            </a:extLst>
          </p:cNvPr>
          <p:cNvSpPr/>
          <p:nvPr/>
        </p:nvSpPr>
        <p:spPr>
          <a:xfrm>
            <a:off x="609600" y="1485900"/>
            <a:ext cx="5334000" cy="22860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FF3B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91240FC-6B68-47C0-B216-0C027D924A77}"/>
              </a:ext>
            </a:extLst>
          </p:cNvPr>
          <p:cNvSpPr txBox="1"/>
          <p:nvPr/>
        </p:nvSpPr>
        <p:spPr>
          <a:xfrm>
            <a:off x="838200" y="1676400"/>
            <a:ext cx="1143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3B4D"/>
                </a:solidFill>
                <a:latin typeface="Segoe UI"/>
                <a:ea typeface="Segoe UI"/>
              </a:rPr>
              <a:t>2026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115D432-8429-48DE-9F6E-49A0DE276884}"/>
              </a:ext>
            </a:extLst>
          </p:cNvPr>
          <p:cNvSpPr txBox="1"/>
          <p:nvPr/>
        </p:nvSpPr>
        <p:spPr>
          <a:xfrm>
            <a:off x="838200" y="1962150"/>
            <a:ext cx="48768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E8EEF7"/>
                </a:solidFill>
                <a:latin typeface="Segoe UI"/>
                <a:ea typeface="Segoe UI"/>
              </a:rPr>
              <a:t>DarkSword / UNC6353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FC43EA6-74B3-4085-AC62-99E535F5331B}"/>
              </a:ext>
            </a:extLst>
          </p:cNvPr>
          <p:cNvSpPr txBox="1"/>
          <p:nvPr/>
        </p:nvSpPr>
        <p:spPr>
          <a:xfrm>
            <a:off x="838200" y="2400300"/>
            <a:ext cx="4876800" cy="1219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B7C3D4"/>
                </a:solidFill>
                <a:latin typeface="Microsoft YaHei"/>
                <a:ea typeface="Microsoft YaHei"/>
              </a:rPr>
              <a:t>水坑分布于乌克兰及中东地区的新闻与行业站点,通过 iframe 嵌入漏洞利用服务器。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B7C3D4"/>
                </a:solidFill>
                <a:latin typeface="Microsoft YaHei"/>
                <a:ea typeface="Microsoft YaHei"/>
              </a:rPr>
              <a:t>载荷 GHOSTBLADE 内存驻留、无文件落地,窃取加密钱包与钥匙串。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3F4E789-6BEB-452D-9EDE-48CFBACC23D4}"/>
              </a:ext>
            </a:extLst>
          </p:cNvPr>
          <p:cNvSpPr/>
          <p:nvPr/>
        </p:nvSpPr>
        <p:spPr>
          <a:xfrm>
            <a:off x="6248400" y="1485900"/>
            <a:ext cx="5334000" cy="22860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00D4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E1E5C22-A0DA-4322-8EE8-9A0FC29AA582}"/>
              </a:ext>
            </a:extLst>
          </p:cNvPr>
          <p:cNvSpPr txBox="1"/>
          <p:nvPr/>
        </p:nvSpPr>
        <p:spPr>
          <a:xfrm>
            <a:off x="6477000" y="1676400"/>
            <a:ext cx="1143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00D4FF"/>
                </a:solidFill>
                <a:latin typeface="Segoe UI"/>
                <a:ea typeface="Segoe UI"/>
              </a:rPr>
              <a:t>2023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A2AAD58-6A02-468D-8C9D-5E62E0DECFD8}"/>
              </a:ext>
            </a:extLst>
          </p:cNvPr>
          <p:cNvSpPr txBox="1"/>
          <p:nvPr/>
        </p:nvSpPr>
        <p:spPr>
          <a:xfrm>
            <a:off x="6477000" y="1962150"/>
            <a:ext cx="48768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E8EEF7"/>
                </a:solidFill>
                <a:latin typeface="Segoe UI"/>
                <a:ea typeface="Segoe UI"/>
              </a:rPr>
              <a:t>Operation Triangulation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F2C300D-651F-4A1E-8F24-75041F15713C}"/>
              </a:ext>
            </a:extLst>
          </p:cNvPr>
          <p:cNvSpPr txBox="1"/>
          <p:nvPr/>
        </p:nvSpPr>
        <p:spPr>
          <a:xfrm>
            <a:off x="6477000" y="2400300"/>
            <a:ext cx="4876800" cy="1219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B7C3D4"/>
                </a:solidFill>
                <a:latin typeface="Microsoft YaHei"/>
                <a:ea typeface="Microsoft YaHei"/>
              </a:rPr>
              <a:t>卡巴斯基披露的多年期 iPhone 水坑 / 点击链攻击,手法与 DarkSword 高度相似。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B7C3D4"/>
                </a:solidFill>
                <a:latin typeface="Microsoft YaHei"/>
                <a:ea typeface="Microsoft YaHei"/>
              </a:rPr>
              <a:t>零点击、内核级利用、长期潜伏,典型国家级定向行动特征。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6A00C50-AF2C-4459-B92F-5CBB020232E6}"/>
              </a:ext>
            </a:extLst>
          </p:cNvPr>
          <p:cNvSpPr/>
          <p:nvPr/>
        </p:nvSpPr>
        <p:spPr>
          <a:xfrm>
            <a:off x="609600" y="4000500"/>
            <a:ext cx="5334000" cy="22479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00D4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9F5CF2A-1189-45D2-B91F-A892CF601EC2}"/>
              </a:ext>
            </a:extLst>
          </p:cNvPr>
          <p:cNvSpPr txBox="1"/>
          <p:nvPr/>
        </p:nvSpPr>
        <p:spPr>
          <a:xfrm>
            <a:off x="838200" y="4191000"/>
            <a:ext cx="1143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00D4FF"/>
                </a:solidFill>
                <a:latin typeface="Segoe UI"/>
                <a:ea typeface="Segoe UI"/>
              </a:rPr>
              <a:t>2021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D38F83F-7299-44B8-B704-9F82C3E910BC}"/>
              </a:ext>
            </a:extLst>
          </p:cNvPr>
          <p:cNvSpPr txBox="1"/>
          <p:nvPr/>
        </p:nvSpPr>
        <p:spPr>
          <a:xfrm>
            <a:off x="838200" y="4476750"/>
            <a:ext cx="48768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E8EEF7"/>
                </a:solidFill>
                <a:latin typeface="Microsoft YaHei"/>
                <a:ea typeface="Microsoft YaHei"/>
              </a:rPr>
              <a:t>Google TAG 披露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AA13F32-914D-48CE-AE4B-1849204C0A40}"/>
              </a:ext>
            </a:extLst>
          </p:cNvPr>
          <p:cNvSpPr txBox="1"/>
          <p:nvPr/>
        </p:nvSpPr>
        <p:spPr>
          <a:xfrm>
            <a:off x="838200" y="4914900"/>
            <a:ext cx="4876800" cy="1219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B7C3D4"/>
                </a:solidFill>
                <a:latin typeface="Microsoft YaHei"/>
                <a:ea typeface="Microsoft YaHei"/>
              </a:rPr>
              <a:t>针对香港、新疆相关网站的 iOS / macOS 水坑攻击活动。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B7C3D4"/>
                </a:solidFill>
                <a:latin typeface="Microsoft YaHei"/>
                <a:ea typeface="Microsoft YaHei"/>
              </a:rPr>
              <a:t>印证'合法网站 + 定向浏览器漏洞链'在 APT 场景的常态化。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54E739CF-7C9B-489C-9E75-CF6FC7B1F928}"/>
              </a:ext>
            </a:extLst>
          </p:cNvPr>
          <p:cNvSpPr/>
          <p:nvPr/>
        </p:nvSpPr>
        <p:spPr>
          <a:xfrm>
            <a:off x="6248400" y="4000500"/>
            <a:ext cx="5334000" cy="2247900"/>
          </a:xfrm>
          <a:prstGeom prst="roundRect">
            <a:avLst/>
          </a:prstGeom>
          <a:solidFill>
            <a:srgbClr val="1A1420"/>
          </a:solidFill>
          <a:ln w="12700">
            <a:solidFill>
              <a:srgbClr val="FF3B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255DEDB-10F2-46D0-B5EF-B8C03FF37F9F}"/>
              </a:ext>
            </a:extLst>
          </p:cNvPr>
          <p:cNvSpPr txBox="1"/>
          <p:nvPr/>
        </p:nvSpPr>
        <p:spPr>
          <a:xfrm>
            <a:off x="6477000" y="4191000"/>
            <a:ext cx="190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3B4D"/>
                </a:solidFill>
                <a:latin typeface="Microsoft YaHei"/>
                <a:ea typeface="Microsoft YaHei"/>
              </a:rPr>
              <a:t>关键洞察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BB85BA6-4B1F-4E50-92AA-E0C8A9FEF1BF}"/>
              </a:ext>
            </a:extLst>
          </p:cNvPr>
          <p:cNvSpPr txBox="1"/>
          <p:nvPr/>
        </p:nvSpPr>
        <p:spPr>
          <a:xfrm>
            <a:off x="6477000" y="4495800"/>
            <a:ext cx="48768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E8EEF7"/>
                </a:solidFill>
                <a:latin typeface="Microsoft YaHei"/>
                <a:ea typeface="Microsoft YaHei"/>
              </a:rPr>
              <a:t>商业监控能力外泄 → 国家级行动 → 黑产武器化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B3C1297-0A10-43DF-BE1E-DF4452B7DEC4}"/>
              </a:ext>
            </a:extLst>
          </p:cNvPr>
          <p:cNvSpPr txBox="1"/>
          <p:nvPr/>
        </p:nvSpPr>
        <p:spPr>
          <a:xfrm>
            <a:off x="6477000" y="5105400"/>
            <a:ext cx="4876800" cy="1028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三类案例跨越 5 年持续演进,共同特征:合法网站 + 零点击 + 精准指纹 + 内存驻留。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传统 URL 黑名单与杀毒方案全面失效。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EA0CC42-9627-4B0F-9BCD-B4BCC38617DD}"/>
              </a:ext>
            </a:extLst>
          </p:cNvPr>
          <p:cNvSpPr txBox="1"/>
          <p:nvPr/>
        </p:nvSpPr>
        <p:spPr>
          <a:xfrm>
            <a:off x="609600" y="6477000"/>
            <a:ext cx="109728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A6B82"/>
                </a:solidFill>
                <a:latin typeface="Segoe UI"/>
                <a:ea typeface="Segoe UI"/>
              </a:rPr>
              <a:t>iOS 水坑攻击专题  ·  06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6667666-C1FB-491D-A6BA-30C976104291}"/>
              </a:ext>
            </a:extLst>
          </p:cNvPr>
          <p:cNvSpPr txBox="1"/>
          <p:nvPr/>
        </p:nvSpPr>
        <p:spPr>
          <a:xfrm>
            <a:off x="609600" y="53340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E8EEF7"/>
                </a:solidFill>
                <a:latin typeface="Microsoft YaHei"/>
                <a:ea typeface="Microsoft YaHei"/>
              </a:rPr>
              <a:t>个人防御建议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9ADA9F3-FC39-4847-AC11-92908B169526}"/>
              </a:ext>
            </a:extLst>
          </p:cNvPr>
          <p:cNvSpPr/>
          <p:nvPr/>
        </p:nvSpPr>
        <p:spPr>
          <a:xfrm>
            <a:off x="609600" y="1143000"/>
            <a:ext cx="533400" cy="38100"/>
          </a:xfrm>
          <a:prstGeom prst="rect">
            <a:avLst/>
          </a:prstGeom>
          <a:solidFill>
            <a:srgbClr val="00D4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7B5B785-C25A-4B3D-BC31-DAE1EBF17BA9}"/>
              </a:ext>
            </a:extLst>
          </p:cNvPr>
          <p:cNvSpPr txBox="1"/>
          <p:nvPr/>
        </p:nvSpPr>
        <p:spPr>
          <a:xfrm>
            <a:off x="1295400" y="1066800"/>
            <a:ext cx="8572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8DA0BC"/>
                </a:solidFill>
                <a:latin typeface="Microsoft YaHei"/>
                <a:ea typeface="Microsoft YaHei"/>
              </a:rPr>
              <a:t>升级 + 锁定模式 + 硬件钱包,是普通用户最实用的三条防线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90FC253-AB22-47ED-BF49-F46239A567B0}"/>
              </a:ext>
            </a:extLst>
          </p:cNvPr>
          <p:cNvSpPr/>
          <p:nvPr/>
        </p:nvSpPr>
        <p:spPr>
          <a:xfrm>
            <a:off x="609600" y="1600200"/>
            <a:ext cx="2590800" cy="20955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614CCE5-CA48-4FBE-8E47-01940196E9AF}"/>
              </a:ext>
            </a:extLst>
          </p:cNvPr>
          <p:cNvSpPr txBox="1"/>
          <p:nvPr/>
        </p:nvSpPr>
        <p:spPr>
          <a:xfrm>
            <a:off x="800100" y="1790700"/>
            <a:ext cx="5715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00D4FF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25A4A78-7E71-483C-8405-948B2086610D}"/>
              </a:ext>
            </a:extLst>
          </p:cNvPr>
          <p:cNvSpPr txBox="1"/>
          <p:nvPr/>
        </p:nvSpPr>
        <p:spPr>
          <a:xfrm>
            <a:off x="800100" y="2400300"/>
            <a:ext cx="22098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EEF7"/>
                </a:solidFill>
                <a:latin typeface="Microsoft YaHei"/>
                <a:ea typeface="Microsoft YaHei"/>
              </a:rPr>
              <a:t>立即升级系统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288DA4D-5319-4A9B-8A7A-B41160BF6846}"/>
              </a:ext>
            </a:extLst>
          </p:cNvPr>
          <p:cNvSpPr txBox="1"/>
          <p:nvPr/>
        </p:nvSpPr>
        <p:spPr>
          <a:xfrm>
            <a:off x="800100" y="2781300"/>
            <a:ext cx="22098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升级至 iOS 26.3 或更高版本;旧设备至少安装至 iOS 18.7.6 或苹果发布的带外安全更新。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6A7964A-2FE1-4D5B-A0EB-BA4DCB533BC3}"/>
              </a:ext>
            </a:extLst>
          </p:cNvPr>
          <p:cNvSpPr/>
          <p:nvPr/>
        </p:nvSpPr>
        <p:spPr>
          <a:xfrm>
            <a:off x="3352800" y="1600200"/>
            <a:ext cx="2590800" cy="20955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7354116-B90C-401B-B072-4F9CF70E43D9}"/>
              </a:ext>
            </a:extLst>
          </p:cNvPr>
          <p:cNvSpPr txBox="1"/>
          <p:nvPr/>
        </p:nvSpPr>
        <p:spPr>
          <a:xfrm>
            <a:off x="3543300" y="1790700"/>
            <a:ext cx="5715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00D4FF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C95C0A-C577-4CA6-9988-F6AD4FE55A48}"/>
              </a:ext>
            </a:extLst>
          </p:cNvPr>
          <p:cNvSpPr txBox="1"/>
          <p:nvPr/>
        </p:nvSpPr>
        <p:spPr>
          <a:xfrm>
            <a:off x="3543300" y="2400300"/>
            <a:ext cx="22098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EEF7"/>
                </a:solidFill>
                <a:latin typeface="Microsoft YaHei"/>
                <a:ea typeface="Microsoft YaHei"/>
              </a:rPr>
              <a:t>开启锁定模式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32216C3-68CB-46E7-B9DB-A7E5BD7175D1}"/>
              </a:ext>
            </a:extLst>
          </p:cNvPr>
          <p:cNvSpPr txBox="1"/>
          <p:nvPr/>
        </p:nvSpPr>
        <p:spPr>
          <a:xfrm>
            <a:off x="3543300" y="2781300"/>
            <a:ext cx="22098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设置 → 隐私与安全性 → 锁定模式;可阻断绝大多数浏览器侧漏洞利用链。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8756144-F3C7-4EFB-B0DC-9676F3208E82}"/>
              </a:ext>
            </a:extLst>
          </p:cNvPr>
          <p:cNvSpPr/>
          <p:nvPr/>
        </p:nvSpPr>
        <p:spPr>
          <a:xfrm>
            <a:off x="6096000" y="1600200"/>
            <a:ext cx="2590800" cy="20955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420DBB0-6D12-4BBB-9A54-784F6EA7B81F}"/>
              </a:ext>
            </a:extLst>
          </p:cNvPr>
          <p:cNvSpPr txBox="1"/>
          <p:nvPr/>
        </p:nvSpPr>
        <p:spPr>
          <a:xfrm>
            <a:off x="6286500" y="1790700"/>
            <a:ext cx="5715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00D4FF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96F8192-F364-426C-9821-4F619657F714}"/>
              </a:ext>
            </a:extLst>
          </p:cNvPr>
          <p:cNvSpPr txBox="1"/>
          <p:nvPr/>
        </p:nvSpPr>
        <p:spPr>
          <a:xfrm>
            <a:off x="6286500" y="2400300"/>
            <a:ext cx="22098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EEF7"/>
                </a:solidFill>
                <a:latin typeface="Microsoft YaHei"/>
                <a:ea typeface="Microsoft YaHei"/>
              </a:rPr>
              <a:t>资产离线隔离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E84AE41-302D-4201-B8DD-AA88D21DD62A}"/>
              </a:ext>
            </a:extLst>
          </p:cNvPr>
          <p:cNvSpPr txBox="1"/>
          <p:nvPr/>
        </p:nvSpPr>
        <p:spPr>
          <a:xfrm>
            <a:off x="6286500" y="2781300"/>
            <a:ext cx="22098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加密货币私钥 / 助记词绝不存储于联网 iPhone,采用硬件钱包。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92C55F80-A147-4044-8364-D1924C18570C}"/>
              </a:ext>
            </a:extLst>
          </p:cNvPr>
          <p:cNvSpPr/>
          <p:nvPr/>
        </p:nvSpPr>
        <p:spPr>
          <a:xfrm>
            <a:off x="8839200" y="1600200"/>
            <a:ext cx="2743200" cy="20955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5ECAE8F-5031-443D-8F54-3BDD2DED05A0}"/>
              </a:ext>
            </a:extLst>
          </p:cNvPr>
          <p:cNvSpPr txBox="1"/>
          <p:nvPr/>
        </p:nvSpPr>
        <p:spPr>
          <a:xfrm>
            <a:off x="9029700" y="1790700"/>
            <a:ext cx="5715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00D4FF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B7A5307-4ADB-40D2-B09B-D04D99CA57D6}"/>
              </a:ext>
            </a:extLst>
          </p:cNvPr>
          <p:cNvSpPr txBox="1"/>
          <p:nvPr/>
        </p:nvSpPr>
        <p:spPr>
          <a:xfrm>
            <a:off x="9029700" y="2400300"/>
            <a:ext cx="23622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EEF7"/>
                </a:solidFill>
                <a:latin typeface="Microsoft YaHei"/>
                <a:ea typeface="Microsoft YaHei"/>
              </a:rPr>
              <a:t>关注异常信号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452DCA7-8768-4FD6-AB98-C1705AD6D59F}"/>
              </a:ext>
            </a:extLst>
          </p:cNvPr>
          <p:cNvSpPr txBox="1"/>
          <p:nvPr/>
        </p:nvSpPr>
        <p:spPr>
          <a:xfrm>
            <a:off x="9029700" y="2781300"/>
            <a:ext cx="23622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Safari 异常崩溃、设备异常发热、电量快速下降、流量暗消,均需警觉。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4A85F7C3-486C-403F-9B1C-398B5841A476}"/>
              </a:ext>
            </a:extLst>
          </p:cNvPr>
          <p:cNvSpPr/>
          <p:nvPr/>
        </p:nvSpPr>
        <p:spPr>
          <a:xfrm>
            <a:off x="609600" y="4000500"/>
            <a:ext cx="10972800" cy="2171700"/>
          </a:xfrm>
          <a:prstGeom prst="roundRect">
            <a:avLst/>
          </a:prstGeom>
          <a:solidFill>
            <a:srgbClr val="102534"/>
          </a:solidFill>
          <a:ln w="12700">
            <a:solidFill>
              <a:srgbClr val="00D4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4C43EEA-04A4-47AA-9889-65BBA27589F2}"/>
              </a:ext>
            </a:extLst>
          </p:cNvPr>
          <p:cNvSpPr txBox="1"/>
          <p:nvPr/>
        </p:nvSpPr>
        <p:spPr>
          <a:xfrm>
            <a:off x="914400" y="4229100"/>
            <a:ext cx="190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00D4FF"/>
                </a:solidFill>
                <a:latin typeface="Microsoft YaHei"/>
                <a:ea typeface="Microsoft YaHei"/>
              </a:rPr>
              <a:t>行动清单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6810FFB-8901-435D-A533-E6E2C0862AB6}"/>
              </a:ext>
            </a:extLst>
          </p:cNvPr>
          <p:cNvSpPr txBox="1"/>
          <p:nvPr/>
        </p:nvSpPr>
        <p:spPr>
          <a:xfrm>
            <a:off x="914400" y="4572000"/>
            <a:ext cx="103632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E8EEF7"/>
                </a:solidFill>
                <a:latin typeface="Microsoft YaHei"/>
                <a:ea typeface="Microsoft YaHei"/>
              </a:rPr>
              <a:t>今天就做的两件事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A509EFB-3CE6-418E-A643-F5617B9DD773}"/>
              </a:ext>
            </a:extLst>
          </p:cNvPr>
          <p:cNvSpPr txBox="1"/>
          <p:nvPr/>
        </p:nvSpPr>
        <p:spPr>
          <a:xfrm>
            <a:off x="914400" y="5181600"/>
            <a:ext cx="103632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E8EEF7"/>
                </a:solidFill>
                <a:latin typeface="Microsoft YaHei"/>
                <a:ea typeface="Microsoft YaHei"/>
              </a:rPr>
              <a:t>① 打开设置 → 通用 → 软件更新,安装最新系统更新。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676E261-5824-437F-A803-7DD6A97E9ADD}"/>
              </a:ext>
            </a:extLst>
          </p:cNvPr>
          <p:cNvSpPr txBox="1"/>
          <p:nvPr/>
        </p:nvSpPr>
        <p:spPr>
          <a:xfrm>
            <a:off x="914400" y="5581650"/>
            <a:ext cx="103632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E8EEF7"/>
                </a:solidFill>
                <a:latin typeface="Microsoft YaHei"/>
                <a:ea typeface="Microsoft YaHei"/>
              </a:rPr>
              <a:t>② 若持有加密资产或属高阶目标人群,立即开启锁定模式并将私钥转移至硬件钱包。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D5744DD-7007-4B8E-9A07-268D6E0E4FE6}"/>
              </a:ext>
            </a:extLst>
          </p:cNvPr>
          <p:cNvSpPr txBox="1"/>
          <p:nvPr/>
        </p:nvSpPr>
        <p:spPr>
          <a:xfrm>
            <a:off x="609600" y="6477000"/>
            <a:ext cx="109728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A6B82"/>
                </a:solidFill>
                <a:latin typeface="Segoe UI"/>
                <a:ea typeface="Segoe UI"/>
              </a:rPr>
              <a:t>iOS 水坑攻击专题  ·  07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CE2262-CC91-42BA-B7A1-4464D93F0E34}"/>
              </a:ext>
            </a:extLst>
          </p:cNvPr>
          <p:cNvSpPr txBox="1"/>
          <p:nvPr/>
        </p:nvSpPr>
        <p:spPr>
          <a:xfrm>
            <a:off x="609600" y="53340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E8EEF7"/>
                </a:solidFill>
                <a:latin typeface="Microsoft YaHei"/>
                <a:ea typeface="Microsoft YaHei"/>
              </a:rPr>
              <a:t>企业 / 安全团队防御建议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BB6311B-7D12-468E-A6D7-524EE5298726}"/>
              </a:ext>
            </a:extLst>
          </p:cNvPr>
          <p:cNvSpPr/>
          <p:nvPr/>
        </p:nvSpPr>
        <p:spPr>
          <a:xfrm>
            <a:off x="609600" y="1143000"/>
            <a:ext cx="533400" cy="38100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F49DD0E-2791-4FDD-9DFD-D1AFA90D3965}"/>
              </a:ext>
            </a:extLst>
          </p:cNvPr>
          <p:cNvSpPr txBox="1"/>
          <p:nvPr/>
        </p:nvSpPr>
        <p:spPr>
          <a:xfrm>
            <a:off x="1295400" y="1066800"/>
            <a:ext cx="8572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8DA0BC"/>
                </a:solidFill>
                <a:latin typeface="Microsoft YaHei"/>
                <a:ea typeface="Microsoft YaHei"/>
              </a:rPr>
              <a:t>水坑 + 零点击场景下,传统边界防护失效,必须依赖分层防御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F12C71B-4204-4933-84C5-90F68D77FF25}"/>
              </a:ext>
            </a:extLst>
          </p:cNvPr>
          <p:cNvSpPr/>
          <p:nvPr/>
        </p:nvSpPr>
        <p:spPr>
          <a:xfrm>
            <a:off x="609600" y="1600200"/>
            <a:ext cx="3505200" cy="4572000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FF3B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D2FEE0E-8E4B-4B2F-8E10-0A863A5EE066}"/>
              </a:ext>
            </a:extLst>
          </p:cNvPr>
          <p:cNvSpPr txBox="1"/>
          <p:nvPr/>
        </p:nvSpPr>
        <p:spPr>
          <a:xfrm>
            <a:off x="914400" y="1905000"/>
            <a:ext cx="2895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3B4D"/>
                </a:solidFill>
                <a:latin typeface="Microsoft YaHei"/>
                <a:ea typeface="Microsoft YaHei"/>
              </a:rPr>
              <a:t>核心工作单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25DFF9D-4230-4CAA-99AA-AC8C083EB100}"/>
              </a:ext>
            </a:extLst>
          </p:cNvPr>
          <p:cNvSpPr txBox="1"/>
          <p:nvPr/>
        </p:nvSpPr>
        <p:spPr>
          <a:xfrm>
            <a:off x="914400" y="2324100"/>
            <a:ext cx="2895600" cy="1828800"/>
          </a:xfrm>
        </p:spPr>
        <p:txBody>
          <a:bodyPr wrap="square" rtlCol="0" lIns="0" tIns="0" rIns="0" bIns="0" anchor="t"/>
          <a:lstStyle/>
          <a:p>
            <a:pPr algn="l"/>
            <a:r>
              <a:rPr sz="12000" b="1">
                <a:solidFill>
                  <a:srgbClr val="E8EEF7"/>
                </a:solidFill>
                <a:latin typeface="Segoe UI"/>
                <a:ea typeface="Segoe UI"/>
              </a:rPr>
              <a:t>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018E069-426C-4C5F-9036-8CEAAE86865C}"/>
              </a:ext>
            </a:extLst>
          </p:cNvPr>
          <p:cNvSpPr txBox="1"/>
          <p:nvPr/>
        </p:nvSpPr>
        <p:spPr>
          <a:xfrm>
            <a:off x="914400" y="4152900"/>
            <a:ext cx="289560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E8EEF7"/>
                </a:solidFill>
                <a:latin typeface="Microsoft YaHei"/>
                <a:ea typeface="Microsoft YaHei"/>
              </a:rPr>
              <a:t>项关键措施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2921027-234B-470D-9481-CDE8BA7025B5}"/>
              </a:ext>
            </a:extLst>
          </p:cNvPr>
          <p:cNvSpPr txBox="1"/>
          <p:nvPr/>
        </p:nvSpPr>
        <p:spPr>
          <a:xfrm>
            <a:off x="914400" y="4648200"/>
            <a:ext cx="2895600" cy="1257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B7C3D4"/>
                </a:solidFill>
                <a:latin typeface="Microsoft YaHei"/>
                <a:ea typeface="Microsoft YaHei"/>
              </a:rPr>
              <a:t>覆盖网络、Web、情报、设备与应急响应五个环节。部分措施可复用现有 EDR / MDM / SIEM 能力辅以配置调整。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02891EB-42BF-4862-A280-9D93A1A90440}"/>
              </a:ext>
            </a:extLst>
          </p:cNvPr>
          <p:cNvSpPr/>
          <p:nvPr/>
        </p:nvSpPr>
        <p:spPr>
          <a:xfrm>
            <a:off x="4419600" y="1600200"/>
            <a:ext cx="7162800" cy="85725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18488CB-57CB-4C34-9CC2-04F467A30040}"/>
              </a:ext>
            </a:extLst>
          </p:cNvPr>
          <p:cNvSpPr txBox="1"/>
          <p:nvPr/>
        </p:nvSpPr>
        <p:spPr>
          <a:xfrm>
            <a:off x="4648200" y="1790700"/>
            <a:ext cx="381000" cy="47625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3B4D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E0F9863-09F3-4427-BC36-A1A4FB216FD1}"/>
              </a:ext>
            </a:extLst>
          </p:cNvPr>
          <p:cNvSpPr txBox="1"/>
          <p:nvPr/>
        </p:nvSpPr>
        <p:spPr>
          <a:xfrm>
            <a:off x="5143500" y="1790700"/>
            <a:ext cx="628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</a:rPr>
              <a:t>DNS / 流量侧异常检测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6DA3EB-796A-4B1D-BD6A-70BD84278ECB}"/>
              </a:ext>
            </a:extLst>
          </p:cNvPr>
          <p:cNvSpPr txBox="1"/>
          <p:nvPr/>
        </p:nvSpPr>
        <p:spPr>
          <a:xfrm>
            <a:off x="5143500" y="2095500"/>
            <a:ext cx="628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DA0BC"/>
                </a:solidFill>
                <a:latin typeface="Microsoft YaHei"/>
                <a:ea typeface="Microsoft YaHei"/>
              </a:rPr>
              <a:t>对移动设备出站流量启用 DNS 过滤,益短时高频 HTTPS 连接至陌生 ASN。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1BEB8A23-CF7E-4B6C-BB89-9313AE77B9B4}"/>
              </a:ext>
            </a:extLst>
          </p:cNvPr>
          <p:cNvSpPr/>
          <p:nvPr/>
        </p:nvSpPr>
        <p:spPr>
          <a:xfrm>
            <a:off x="4419600" y="2514600"/>
            <a:ext cx="7162800" cy="85725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164338E-9442-4FBF-B20C-EAB2B8A6B668}"/>
              </a:ext>
            </a:extLst>
          </p:cNvPr>
          <p:cNvSpPr txBox="1"/>
          <p:nvPr/>
        </p:nvSpPr>
        <p:spPr>
          <a:xfrm>
            <a:off x="4648200" y="2705100"/>
            <a:ext cx="381000" cy="47625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3B4D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144160B-9E37-422E-82F6-427840C50A7A}"/>
              </a:ext>
            </a:extLst>
          </p:cNvPr>
          <p:cNvSpPr txBox="1"/>
          <p:nvPr/>
        </p:nvSpPr>
        <p:spPr>
          <a:xfrm>
            <a:off x="5143500" y="2705100"/>
            <a:ext cx="628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</a:rPr>
              <a:t>CDN / Web 侧完整性防御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FE73836-CF70-4A66-96FD-AAE1746FCFC9}"/>
              </a:ext>
            </a:extLst>
          </p:cNvPr>
          <p:cNvSpPr txBox="1"/>
          <p:nvPr/>
        </p:nvSpPr>
        <p:spPr>
          <a:xfrm>
            <a:off x="5143500" y="3009900"/>
            <a:ext cx="628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DA0BC"/>
                </a:solidFill>
                <a:latin typeface="Microsoft YaHei"/>
                <a:ea typeface="Microsoft YaHei"/>
              </a:rPr>
              <a:t>启用 SRI 子资源完整性、CSP、WAF,监控外链 iframe 与三方脚本变更。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3BE273CA-CAE8-4BC1-81EC-09075173648D}"/>
              </a:ext>
            </a:extLst>
          </p:cNvPr>
          <p:cNvSpPr/>
          <p:nvPr/>
        </p:nvSpPr>
        <p:spPr>
          <a:xfrm>
            <a:off x="4419600" y="3429000"/>
            <a:ext cx="7162800" cy="85725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6968C28-1BB3-4648-AE05-3BD7F07C0855}"/>
              </a:ext>
            </a:extLst>
          </p:cNvPr>
          <p:cNvSpPr txBox="1"/>
          <p:nvPr/>
        </p:nvSpPr>
        <p:spPr>
          <a:xfrm>
            <a:off x="4648200" y="3619500"/>
            <a:ext cx="381000" cy="47625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3B4D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67A7A02-CC18-47A0-ADA9-77B29E65308E}"/>
              </a:ext>
            </a:extLst>
          </p:cNvPr>
          <p:cNvSpPr txBox="1"/>
          <p:nvPr/>
        </p:nvSpPr>
        <p:spPr>
          <a:xfrm>
            <a:off x="5143500" y="3619500"/>
            <a:ext cx="628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</a:rPr>
              <a:t>威胁情报订阅与封禁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0E8BE89-6BE3-4464-9413-9D2272772494}"/>
              </a:ext>
            </a:extLst>
          </p:cNvPr>
          <p:cNvSpPr txBox="1"/>
          <p:nvPr/>
        </p:nvSpPr>
        <p:spPr>
          <a:xfrm>
            <a:off x="5143500" y="3924300"/>
            <a:ext cx="628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DA0BC"/>
                </a:solidFill>
                <a:latin typeface="Microsoft YaHei"/>
                <a:ea typeface="Microsoft YaHei"/>
              </a:rPr>
              <a:t>关注 UNC6353 、Operation Triangulation 相关 IoC,封禁已知利用域名。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A25E0291-1E42-4CBD-8659-A98EB0908519}"/>
              </a:ext>
            </a:extLst>
          </p:cNvPr>
          <p:cNvSpPr/>
          <p:nvPr/>
        </p:nvSpPr>
        <p:spPr>
          <a:xfrm>
            <a:off x="4419600" y="4343400"/>
            <a:ext cx="7162800" cy="85725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3F6A57E-04C7-4EFF-8DDE-D14869A79580}"/>
              </a:ext>
            </a:extLst>
          </p:cNvPr>
          <p:cNvSpPr txBox="1"/>
          <p:nvPr/>
        </p:nvSpPr>
        <p:spPr>
          <a:xfrm>
            <a:off x="4648200" y="4533900"/>
            <a:ext cx="381000" cy="47625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3B4D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B24D037-5490-4257-A07B-4A39D434C85A}"/>
              </a:ext>
            </a:extLst>
          </p:cNvPr>
          <p:cNvSpPr txBox="1"/>
          <p:nvPr/>
        </p:nvSpPr>
        <p:spPr>
          <a:xfrm>
            <a:off x="5143500" y="4533900"/>
            <a:ext cx="628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</a:rPr>
              <a:t>分层防御 + 硬件 MFA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4D27C9F-A225-477C-8A57-9021A44AD7B2}"/>
              </a:ext>
            </a:extLst>
          </p:cNvPr>
          <p:cNvSpPr txBox="1"/>
          <p:nvPr/>
        </p:nvSpPr>
        <p:spPr>
          <a:xfrm>
            <a:off x="5143500" y="4838700"/>
            <a:ext cx="628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DA0BC"/>
                </a:solidFill>
                <a:latin typeface="Microsoft YaHei"/>
                <a:ea typeface="Microsoft YaHei"/>
              </a:rPr>
              <a:t>MDM 下发 Web 内容过滤;高价值账户强制硬件密钥 MFA,降低钥匙串泄露连锁影响。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E06FBA61-9352-46BF-9715-F64632BE9620}"/>
              </a:ext>
            </a:extLst>
          </p:cNvPr>
          <p:cNvSpPr/>
          <p:nvPr/>
        </p:nvSpPr>
        <p:spPr>
          <a:xfrm>
            <a:off x="4419600" y="5257800"/>
            <a:ext cx="7162800" cy="9144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CFEC6C0-AE13-4520-B09B-84C7974BFEAA}"/>
              </a:ext>
            </a:extLst>
          </p:cNvPr>
          <p:cNvSpPr txBox="1"/>
          <p:nvPr/>
        </p:nvSpPr>
        <p:spPr>
          <a:xfrm>
            <a:off x="4648200" y="5448300"/>
            <a:ext cx="381000" cy="47625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3B4D"/>
                </a:solidFill>
                <a:latin typeface="Segoe UI"/>
                <a:ea typeface="Segoe UI"/>
              </a:rPr>
              <a:t>05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9C1E5E1-3086-408D-9781-75F5A2F04AA0}"/>
              </a:ext>
            </a:extLst>
          </p:cNvPr>
          <p:cNvSpPr txBox="1"/>
          <p:nvPr/>
        </p:nvSpPr>
        <p:spPr>
          <a:xfrm>
            <a:off x="5143500" y="5448300"/>
            <a:ext cx="6286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EEF7"/>
                </a:solidFill>
                <a:latin typeface="Microsoft YaHei"/>
                <a:ea typeface="Microsoft YaHei"/>
              </a:rPr>
              <a:t>应急响应与资产止损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7A534B5-D499-4838-999B-D5773FA484F0}"/>
              </a:ext>
            </a:extLst>
          </p:cNvPr>
          <p:cNvSpPr txBox="1"/>
          <p:nvPr/>
        </p:nvSpPr>
        <p:spPr>
          <a:xfrm>
            <a:off x="5143500" y="5753100"/>
            <a:ext cx="6286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DA0BC"/>
                </a:solidFill>
                <a:latin typeface="Microsoft YaHei"/>
                <a:ea typeface="Microsoft YaHei"/>
              </a:rPr>
              <a:t>疑似感染设备隔离、钥匙串凭证轮换、完整性检查,建立 iOS 感染流转流程。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0689DF67-800A-4F3B-9756-EBD95F0D72A7}"/>
              </a:ext>
            </a:extLst>
          </p:cNvPr>
          <p:cNvSpPr txBox="1"/>
          <p:nvPr/>
        </p:nvSpPr>
        <p:spPr>
          <a:xfrm>
            <a:off x="609600" y="6477000"/>
            <a:ext cx="109728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A6B82"/>
                </a:solidFill>
                <a:latin typeface="Segoe UI"/>
                <a:ea typeface="Segoe UI"/>
              </a:rPr>
              <a:t>iOS 水坑攻击专题  ·  08 /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52B1970B-3350-467B-909B-181BD2A1712E}"/>
              </a:ext>
            </a:extLst>
          </p:cNvPr>
          <p:cNvSpPr/>
          <p:nvPr/>
        </p:nvSpPr>
        <p:spPr>
          <a:xfrm>
            <a:off x="0" y="0"/>
            <a:ext cx="3619500" cy="3619500"/>
          </a:xfrm>
          <a:prstGeom prst="ellipse">
            <a:avLst/>
          </a:prstGeom>
          <a:solidFill>
            <a:srgbClr val="FF3B4D">
              <a:alpha val="13333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6809A9E-EB28-47CB-A257-1393EC105923}"/>
              </a:ext>
            </a:extLst>
          </p:cNvPr>
          <p:cNvSpPr/>
          <p:nvPr/>
        </p:nvSpPr>
        <p:spPr>
          <a:xfrm>
            <a:off x="8572500" y="4191000"/>
            <a:ext cx="3619500" cy="2667000"/>
          </a:xfrm>
          <a:prstGeom prst="ellipse">
            <a:avLst/>
          </a:prstGeom>
          <a:solidFill>
            <a:srgbClr val="00D4FF">
              <a:alpha val="12157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05A3930-188E-48B6-987A-A64F395366A3}"/>
              </a:ext>
            </a:extLst>
          </p:cNvPr>
          <p:cNvSpPr txBox="1"/>
          <p:nvPr/>
        </p:nvSpPr>
        <p:spPr>
          <a:xfrm>
            <a:off x="1143000" y="1143000"/>
            <a:ext cx="190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3B4D"/>
                </a:solidFill>
                <a:latin typeface="Microsoft YaHei"/>
                <a:ea typeface="Microsoft YaHei"/>
              </a:rPr>
              <a:t>结语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7F3821A-7BA2-401A-A22B-4AC9AB2AE0B4}"/>
              </a:ext>
            </a:extLst>
          </p:cNvPr>
          <p:cNvSpPr/>
          <p:nvPr/>
        </p:nvSpPr>
        <p:spPr>
          <a:xfrm>
            <a:off x="1143000" y="1524000"/>
            <a:ext cx="457200" cy="38100"/>
          </a:xfrm>
          <a:prstGeom prst="rect">
            <a:avLst/>
          </a:prstGeom>
          <a:solidFill>
            <a:srgbClr val="FF3B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787E391-96AC-4C9C-B5F7-6BC4B05492F8}"/>
              </a:ext>
            </a:extLst>
          </p:cNvPr>
          <p:cNvSpPr txBox="1"/>
          <p:nvPr/>
        </p:nvSpPr>
        <p:spPr>
          <a:xfrm>
            <a:off x="1143000" y="1790700"/>
            <a:ext cx="9906000" cy="731520"/>
          </a:xfrm>
        </p:spPr>
        <p:txBody>
          <a:bodyPr wrap="square" rtlCol="0" lIns="0" tIns="0" rIns="0" bIns="0" anchor="t"/>
          <a:lstStyle/>
          <a:p>
            <a:pPr algn="l"/>
            <a:r>
              <a:rPr sz="4800" b="1">
                <a:solidFill>
                  <a:srgbClr val="E8EEF7"/>
                </a:solidFill>
                <a:latin typeface="Microsoft YaHei"/>
                <a:ea typeface="Microsoft YaHei"/>
              </a:rPr>
              <a:t>水坑不是远处的威胁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5E106D7-99E0-4074-A5AC-6A0C90C4F354}"/>
              </a:ext>
            </a:extLst>
          </p:cNvPr>
          <p:cNvSpPr txBox="1"/>
          <p:nvPr/>
        </p:nvSpPr>
        <p:spPr>
          <a:xfrm>
            <a:off x="1143000" y="2590800"/>
            <a:ext cx="9906000" cy="647700"/>
          </a:xfrm>
        </p:spPr>
        <p:txBody>
          <a:bodyPr wrap="square" rtlCol="0" lIns="0" tIns="0" rIns="0" bIns="0" anchor="t"/>
          <a:lstStyle/>
          <a:p>
            <a:pPr algn="l"/>
            <a:r>
              <a:rPr sz="2800">
                <a:solidFill>
                  <a:srgbClr val="B7C3D4"/>
                </a:solidFill>
                <a:latin typeface="Microsoft YaHei"/>
                <a:ea typeface="Microsoft YaHei"/>
              </a:rPr>
              <a:t>它已走进每一次普通的浏览器打开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C9D760C-B48C-4CFE-8F8B-E02B456745A8}"/>
              </a:ext>
            </a:extLst>
          </p:cNvPr>
          <p:cNvSpPr/>
          <p:nvPr/>
        </p:nvSpPr>
        <p:spPr>
          <a:xfrm>
            <a:off x="1143000" y="3581400"/>
            <a:ext cx="3200400" cy="11430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4283588-16C5-475A-802B-C4D73E7684BE}"/>
              </a:ext>
            </a:extLst>
          </p:cNvPr>
          <p:cNvSpPr txBox="1"/>
          <p:nvPr/>
        </p:nvSpPr>
        <p:spPr>
          <a:xfrm>
            <a:off x="1371600" y="3771900"/>
            <a:ext cx="266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00D4FF"/>
                </a:solidFill>
                <a:latin typeface="Microsoft YaHei"/>
                <a:ea typeface="Microsoft YaHei"/>
              </a:rPr>
              <a:t>关键字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34CE930-2F03-4C12-A96D-474391073DC9}"/>
              </a:ext>
            </a:extLst>
          </p:cNvPr>
          <p:cNvSpPr txBox="1"/>
          <p:nvPr/>
        </p:nvSpPr>
        <p:spPr>
          <a:xfrm>
            <a:off x="1371600" y="4057650"/>
            <a:ext cx="26670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EEF7"/>
                </a:solidFill>
                <a:latin typeface="Microsoft YaHei"/>
                <a:ea typeface="Microsoft YaHei"/>
              </a:rPr>
              <a:t>升级 · 锁定模式 · 分层防御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EA7EEDA-B58B-487E-A2D8-24C1F1EE687E}"/>
              </a:ext>
            </a:extLst>
          </p:cNvPr>
          <p:cNvSpPr/>
          <p:nvPr/>
        </p:nvSpPr>
        <p:spPr>
          <a:xfrm>
            <a:off x="4495800" y="3581400"/>
            <a:ext cx="3200400" cy="11430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306989E-CB8F-4A35-AC3D-68DF9040498E}"/>
              </a:ext>
            </a:extLst>
          </p:cNvPr>
          <p:cNvSpPr txBox="1"/>
          <p:nvPr/>
        </p:nvSpPr>
        <p:spPr>
          <a:xfrm>
            <a:off x="4724400" y="3771900"/>
            <a:ext cx="266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00D4FF"/>
                </a:solidFill>
                <a:latin typeface="Microsoft YaHei"/>
                <a:ea typeface="Microsoft YaHei"/>
              </a:rPr>
              <a:t>高优先级设备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1DE426B-8CFE-4AD0-BD36-7ADB2579D2B7}"/>
              </a:ext>
            </a:extLst>
          </p:cNvPr>
          <p:cNvSpPr txBox="1"/>
          <p:nvPr/>
        </p:nvSpPr>
        <p:spPr>
          <a:xfrm>
            <a:off x="4724400" y="4057650"/>
            <a:ext cx="266700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EEF7"/>
                </a:solidFill>
                <a:latin typeface="Segoe UI"/>
                <a:ea typeface="Segoe UI"/>
              </a:rPr>
              <a:t>iOS ≥17.5 / 18.7.6 / 26.3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07E64B6-E16C-4573-8727-E12D4D2D9341}"/>
              </a:ext>
            </a:extLst>
          </p:cNvPr>
          <p:cNvSpPr/>
          <p:nvPr/>
        </p:nvSpPr>
        <p:spPr>
          <a:xfrm>
            <a:off x="7848600" y="3581400"/>
            <a:ext cx="3200400" cy="1143000"/>
          </a:xfrm>
          <a:prstGeom prst="roundRect">
            <a:avLst/>
          </a:prstGeom>
          <a:solidFill>
            <a:srgbClr val="142338"/>
          </a:solidFill>
          <a:ln w="12700">
            <a:solidFill>
              <a:srgbClr val="1E32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B54C529-14B0-49C9-B369-5031608DCC9A}"/>
              </a:ext>
            </a:extLst>
          </p:cNvPr>
          <p:cNvSpPr txBox="1"/>
          <p:nvPr/>
        </p:nvSpPr>
        <p:spPr>
          <a:xfrm>
            <a:off x="8077200" y="3771900"/>
            <a:ext cx="266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00D4FF"/>
                </a:solidFill>
                <a:latin typeface="Microsoft YaHei"/>
                <a:ea typeface="Microsoft YaHei"/>
              </a:rPr>
              <a:t>需重点关注群体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4780349-2323-44B3-9FAF-1A136B17A1D0}"/>
              </a:ext>
            </a:extLst>
          </p:cNvPr>
          <p:cNvSpPr txBox="1"/>
          <p:nvPr/>
        </p:nvSpPr>
        <p:spPr>
          <a:xfrm>
            <a:off x="8077200" y="4057650"/>
            <a:ext cx="266700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8EEF7"/>
                </a:solidFill>
                <a:latin typeface="Microsoft YaHei"/>
                <a:ea typeface="Microsoft YaHei"/>
              </a:rPr>
              <a:t>加密资产持有者 · 记者 · NGO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AFFB2F4F-55E9-4A43-8C72-ACC2142EE5F0}"/>
              </a:ext>
            </a:extLst>
          </p:cNvPr>
          <p:cNvSpPr/>
          <p:nvPr/>
        </p:nvSpPr>
        <p:spPr>
          <a:xfrm>
            <a:off x="1143000" y="5143500"/>
            <a:ext cx="9906000" cy="1066800"/>
          </a:xfrm>
          <a:prstGeom prst="roundRect">
            <a:avLst/>
          </a:prstGeom>
          <a:solidFill>
            <a:srgbClr val="1A1420"/>
          </a:solidFill>
          <a:ln w="12700">
            <a:solidFill>
              <a:srgbClr val="FF3B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19443A4-EBEB-4D31-A203-D471A2C057E4}"/>
              </a:ext>
            </a:extLst>
          </p:cNvPr>
          <p:cNvSpPr txBox="1"/>
          <p:nvPr/>
        </p:nvSpPr>
        <p:spPr>
          <a:xfrm>
            <a:off x="1447800" y="53340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3B4D"/>
                </a:solidFill>
                <a:latin typeface="Microsoft YaHei"/>
                <a:ea typeface="Microsoft YaHei"/>
              </a:rPr>
              <a:t>咨询与沟通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C1B4649-9518-4F44-9754-73F7F00B8F7E}"/>
              </a:ext>
            </a:extLst>
          </p:cNvPr>
          <p:cNvSpPr txBox="1"/>
          <p:nvPr/>
        </p:nvSpPr>
        <p:spPr>
          <a:xfrm>
            <a:off x="1447800" y="5619750"/>
            <a:ext cx="85725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1700">
                <a:solidFill>
                  <a:srgbClr val="B7C3D4"/>
                </a:solidFill>
                <a:latin typeface="Microsoft YaHei"/>
                <a:ea typeface="Microsoft YaHei"/>
              </a:rPr>
              <a:t>咨询 iOS 系统安全问题请联系 Telegram: </a:t>
            </a:r>
            <a:r>
              <a:rPr sz="2200" b="1">
                <a:solidFill>
                  <a:srgbClr val="00D4FF"/>
                </a:solidFill>
                <a:latin typeface="Segoe UI"/>
                <a:ea typeface="Segoe UI"/>
              </a:rPr>
              <a:t>@pengqing666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445E57E-83CD-4331-AA97-DF7B4DB75A24}"/>
              </a:ext>
            </a:extLst>
          </p:cNvPr>
          <p:cNvSpPr txBox="1"/>
          <p:nvPr/>
        </p:nvSpPr>
        <p:spPr>
          <a:xfrm>
            <a:off x="609600" y="6477000"/>
            <a:ext cx="109728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A6B82"/>
                </a:solidFill>
                <a:latin typeface="Segoe UI"/>
                <a:ea typeface="Segoe UI"/>
              </a:rPr>
              <a:t>iOS 水坑攻击专题  ·  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